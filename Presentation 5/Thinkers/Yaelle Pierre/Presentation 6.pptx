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Playfair Displ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fairDisplay-bold.fntdata"/><Relationship Id="rId16" Type="http://schemas.openxmlformats.org/officeDocument/2006/relationships/font" Target="fonts/PlayfairDisplay-regular.fntdata"/><Relationship Id="rId5" Type="http://schemas.openxmlformats.org/officeDocument/2006/relationships/notesMaster" Target="notesMasters/notesMaster1.xml"/><Relationship Id="rId19" Type="http://schemas.openxmlformats.org/officeDocument/2006/relationships/font" Target="fonts/PlayfairDisplay-boldItalic.fntdata"/><Relationship Id="rId6" Type="http://schemas.openxmlformats.org/officeDocument/2006/relationships/slide" Target="slides/slide1.xml"/><Relationship Id="rId18" Type="http://schemas.openxmlformats.org/officeDocument/2006/relationships/font" Target="fonts/PlayfairDispl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72df39b61ba8c0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72df39b61ba8c0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72df39b61ba8c0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72df39b61ba8c0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2df39b61ba8c0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2df39b61ba8c0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72df39b61ba8c0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72df39b61ba8c0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139873c1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139873c1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139873c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139873c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139873c1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139873c1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139873c1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139873c1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139873c1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139873c1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44700" y="1471423"/>
            <a:ext cx="3054600" cy="153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Presentation 6</a:t>
            </a:r>
            <a:endParaRPr/>
          </a:p>
        </p:txBody>
      </p:sp>
      <p:sp>
        <p:nvSpPr>
          <p:cNvPr id="60" name="Google Shape;60;p13"/>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Yaelle Pierre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a:blip r:embed="rId3">
            <a:alphaModFix/>
          </a:blip>
          <a:stretch>
            <a:fillRect/>
          </a:stretch>
        </p:blipFill>
        <p:spPr>
          <a:xfrm>
            <a:off x="11" y="1618350"/>
            <a:ext cx="4775199" cy="2970874"/>
          </a:xfrm>
          <a:prstGeom prst="rect">
            <a:avLst/>
          </a:prstGeom>
          <a:noFill/>
          <a:ln>
            <a:noFill/>
          </a:ln>
        </p:spPr>
      </p:pic>
      <p:pic>
        <p:nvPicPr>
          <p:cNvPr id="66" name="Google Shape;66;p14"/>
          <p:cNvPicPr preferRelativeResize="0"/>
          <p:nvPr/>
        </p:nvPicPr>
        <p:blipFill>
          <a:blip r:embed="rId4">
            <a:alphaModFix/>
          </a:blip>
          <a:stretch>
            <a:fillRect/>
          </a:stretch>
        </p:blipFill>
        <p:spPr>
          <a:xfrm>
            <a:off x="4735800" y="1618350"/>
            <a:ext cx="4226775" cy="2857024"/>
          </a:xfrm>
          <a:prstGeom prst="rect">
            <a:avLst/>
          </a:prstGeom>
          <a:noFill/>
          <a:ln>
            <a:noFill/>
          </a:ln>
        </p:spPr>
      </p:pic>
      <p:sp>
        <p:nvSpPr>
          <p:cNvPr id="67" name="Google Shape;67;p14"/>
          <p:cNvSpPr txBox="1"/>
          <p:nvPr>
            <p:ph idx="4294967295" type="title"/>
          </p:nvPr>
        </p:nvSpPr>
        <p:spPr>
          <a:xfrm>
            <a:off x="217896" y="297007"/>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Patching Code Outputs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Case 003 h&amp;e, melan, and sox10 outputs</a:t>
            </a:r>
            <a:endParaRPr/>
          </a:p>
        </p:txBody>
      </p:sp>
      <p:pic>
        <p:nvPicPr>
          <p:cNvPr id="73" name="Google Shape;73;p15"/>
          <p:cNvPicPr preferRelativeResize="0"/>
          <p:nvPr/>
        </p:nvPicPr>
        <p:blipFill>
          <a:blip r:embed="rId3">
            <a:alphaModFix/>
          </a:blip>
          <a:stretch>
            <a:fillRect/>
          </a:stretch>
        </p:blipFill>
        <p:spPr>
          <a:xfrm>
            <a:off x="311700" y="1017450"/>
            <a:ext cx="3396699" cy="2042000"/>
          </a:xfrm>
          <a:prstGeom prst="rect">
            <a:avLst/>
          </a:prstGeom>
          <a:noFill/>
          <a:ln>
            <a:noFill/>
          </a:ln>
        </p:spPr>
      </p:pic>
      <p:pic>
        <p:nvPicPr>
          <p:cNvPr id="74" name="Google Shape;74;p15"/>
          <p:cNvPicPr preferRelativeResize="0"/>
          <p:nvPr/>
        </p:nvPicPr>
        <p:blipFill>
          <a:blip r:embed="rId4">
            <a:alphaModFix/>
          </a:blip>
          <a:stretch>
            <a:fillRect/>
          </a:stretch>
        </p:blipFill>
        <p:spPr>
          <a:xfrm>
            <a:off x="3339678" y="3059450"/>
            <a:ext cx="3256168" cy="2042000"/>
          </a:xfrm>
          <a:prstGeom prst="rect">
            <a:avLst/>
          </a:prstGeom>
          <a:noFill/>
          <a:ln>
            <a:noFill/>
          </a:ln>
        </p:spPr>
      </p:pic>
      <p:pic>
        <p:nvPicPr>
          <p:cNvPr id="75" name="Google Shape;75;p15"/>
          <p:cNvPicPr preferRelativeResize="0"/>
          <p:nvPr/>
        </p:nvPicPr>
        <p:blipFill>
          <a:blip r:embed="rId5">
            <a:alphaModFix/>
          </a:blip>
          <a:stretch>
            <a:fillRect/>
          </a:stretch>
        </p:blipFill>
        <p:spPr>
          <a:xfrm>
            <a:off x="4959550" y="1017450"/>
            <a:ext cx="3872755" cy="204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50"/>
              <a:t>Why isnt the patch capturing the </a:t>
            </a:r>
            <a:r>
              <a:rPr lang="en" sz="2150"/>
              <a:t>epithelium width based on the mask on the small island in the middle ?</a:t>
            </a:r>
            <a:endParaRPr sz="2150"/>
          </a:p>
        </p:txBody>
      </p:sp>
      <p:pic>
        <p:nvPicPr>
          <p:cNvPr id="81" name="Google Shape;81;p16"/>
          <p:cNvPicPr preferRelativeResize="0"/>
          <p:nvPr/>
        </p:nvPicPr>
        <p:blipFill>
          <a:blip r:embed="rId3">
            <a:alphaModFix/>
          </a:blip>
          <a:stretch>
            <a:fillRect/>
          </a:stretch>
        </p:blipFill>
        <p:spPr>
          <a:xfrm>
            <a:off x="1592602" y="1169829"/>
            <a:ext cx="5958776" cy="3736851"/>
          </a:xfrm>
          <a:prstGeom prst="rect">
            <a:avLst/>
          </a:prstGeom>
          <a:noFill/>
          <a:ln>
            <a:noFill/>
          </a:ln>
        </p:spPr>
      </p:pic>
      <p:sp>
        <p:nvSpPr>
          <p:cNvPr id="82" name="Google Shape;82;p16"/>
          <p:cNvSpPr/>
          <p:nvPr/>
        </p:nvSpPr>
        <p:spPr>
          <a:xfrm>
            <a:off x="5216075" y="2136325"/>
            <a:ext cx="671400" cy="753000"/>
          </a:xfrm>
          <a:prstGeom prst="ellipse">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0"/>
            <a:ext cx="8520600" cy="62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V</a:t>
            </a:r>
            <a:r>
              <a:rPr lang="en" sz="2000"/>
              <a:t>isualizing tangents, normals, patches, and epithelium</a:t>
            </a:r>
            <a:endParaRPr sz="2000"/>
          </a:p>
        </p:txBody>
      </p:sp>
      <p:sp>
        <p:nvSpPr>
          <p:cNvPr id="88" name="Google Shape;88;p17"/>
          <p:cNvSpPr txBox="1"/>
          <p:nvPr>
            <p:ph idx="1" type="body"/>
          </p:nvPr>
        </p:nvSpPr>
        <p:spPr>
          <a:xfrm>
            <a:off x="442675" y="499325"/>
            <a:ext cx="8265900" cy="4803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1200"/>
              </a:spcAft>
              <a:buNone/>
            </a:pPr>
            <a:r>
              <a:rPr lang="en"/>
              <a:t>I looked at Ryans code on how he visualized the tangents. From there I revised it so that it also visualized the normals, patches, and epithelium outline</a:t>
            </a:r>
            <a:endParaRPr/>
          </a:p>
        </p:txBody>
      </p:sp>
      <p:sp>
        <p:nvSpPr>
          <p:cNvPr id="89" name="Google Shape;89;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0" name="Google Shape;90;p17"/>
          <p:cNvPicPr preferRelativeResize="0"/>
          <p:nvPr/>
        </p:nvPicPr>
        <p:blipFill rotWithShape="1">
          <a:blip r:embed="rId3">
            <a:alphaModFix/>
          </a:blip>
          <a:srcRect b="2614" l="21807" r="13656" t="37698"/>
          <a:stretch/>
        </p:blipFill>
        <p:spPr>
          <a:xfrm>
            <a:off x="4638250" y="3070075"/>
            <a:ext cx="4124749" cy="2033101"/>
          </a:xfrm>
          <a:prstGeom prst="rect">
            <a:avLst/>
          </a:prstGeom>
          <a:noFill/>
          <a:ln>
            <a:noFill/>
          </a:ln>
        </p:spPr>
      </p:pic>
      <p:pic>
        <p:nvPicPr>
          <p:cNvPr id="91" name="Google Shape;91;p17"/>
          <p:cNvPicPr preferRelativeResize="0"/>
          <p:nvPr/>
        </p:nvPicPr>
        <p:blipFill rotWithShape="1">
          <a:blip r:embed="rId4">
            <a:alphaModFix/>
          </a:blip>
          <a:srcRect b="7145" l="20329" r="14966" t="30984"/>
          <a:stretch/>
        </p:blipFill>
        <p:spPr>
          <a:xfrm>
            <a:off x="4638250" y="921575"/>
            <a:ext cx="4124749" cy="2032576"/>
          </a:xfrm>
          <a:prstGeom prst="rect">
            <a:avLst/>
          </a:prstGeom>
          <a:noFill/>
          <a:ln>
            <a:noFill/>
          </a:ln>
        </p:spPr>
      </p:pic>
      <p:pic>
        <p:nvPicPr>
          <p:cNvPr id="92" name="Google Shape;92;p17"/>
          <p:cNvPicPr preferRelativeResize="0"/>
          <p:nvPr/>
        </p:nvPicPr>
        <p:blipFill>
          <a:blip r:embed="rId5">
            <a:alphaModFix/>
          </a:blip>
          <a:stretch>
            <a:fillRect/>
          </a:stretch>
        </p:blipFill>
        <p:spPr>
          <a:xfrm>
            <a:off x="239275" y="907851"/>
            <a:ext cx="3869416" cy="4235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2374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879"/>
              <a:t>Visualizing the tangents, normals, and patches in final patching code </a:t>
            </a:r>
            <a:endParaRPr sz="1779"/>
          </a:p>
        </p:txBody>
      </p:sp>
      <p:sp>
        <p:nvSpPr>
          <p:cNvPr id="98" name="Google Shape;98;p18"/>
          <p:cNvSpPr txBox="1"/>
          <p:nvPr>
            <p:ph idx="1" type="body"/>
          </p:nvPr>
        </p:nvSpPr>
        <p:spPr>
          <a:xfrm>
            <a:off x="4744825" y="863550"/>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modified the code to visualize the </a:t>
            </a:r>
            <a:r>
              <a:rPr lang="en"/>
              <a:t>tangents</a:t>
            </a:r>
            <a:r>
              <a:rPr lang="en"/>
              <a:t>, normals,and patches in the final patching code.</a:t>
            </a:r>
            <a:endParaRPr/>
          </a:p>
          <a:p>
            <a:pPr indent="0" lvl="0" marL="0" rtl="0" algn="l">
              <a:spcBef>
                <a:spcPts val="1200"/>
              </a:spcBef>
              <a:spcAft>
                <a:spcPts val="0"/>
              </a:spcAft>
              <a:buNone/>
            </a:pPr>
            <a:r>
              <a:rPr lang="en"/>
              <a:t>Instances in which there was a small dot happened when the normal was not perpendicular to the epithelium width </a:t>
            </a:r>
            <a:endParaRPr/>
          </a:p>
          <a:p>
            <a:pPr indent="0" lvl="0" marL="0" rtl="0" algn="l">
              <a:spcBef>
                <a:spcPts val="1200"/>
              </a:spcBef>
              <a:spcAft>
                <a:spcPts val="1200"/>
              </a:spcAft>
              <a:buNone/>
            </a:pPr>
            <a:r>
              <a:t/>
            </a:r>
            <a:endParaRPr/>
          </a:p>
        </p:txBody>
      </p:sp>
      <p:pic>
        <p:nvPicPr>
          <p:cNvPr id="99" name="Google Shape;99;p18"/>
          <p:cNvPicPr preferRelativeResize="0"/>
          <p:nvPr/>
        </p:nvPicPr>
        <p:blipFill>
          <a:blip r:embed="rId3">
            <a:alphaModFix/>
          </a:blip>
          <a:stretch>
            <a:fillRect/>
          </a:stretch>
        </p:blipFill>
        <p:spPr>
          <a:xfrm>
            <a:off x="169600" y="913275"/>
            <a:ext cx="3213099" cy="4086350"/>
          </a:xfrm>
          <a:prstGeom prst="rect">
            <a:avLst/>
          </a:prstGeom>
          <a:noFill/>
          <a:ln>
            <a:noFill/>
          </a:ln>
        </p:spPr>
      </p:pic>
      <p:pic>
        <p:nvPicPr>
          <p:cNvPr id="100" name="Google Shape;100;p18"/>
          <p:cNvPicPr preferRelativeResize="0"/>
          <p:nvPr/>
        </p:nvPicPr>
        <p:blipFill rotWithShape="1">
          <a:blip r:embed="rId3">
            <a:alphaModFix/>
          </a:blip>
          <a:srcRect b="46743" l="23964" r="40159" t="25279"/>
          <a:stretch/>
        </p:blipFill>
        <p:spPr>
          <a:xfrm>
            <a:off x="3668388" y="2686900"/>
            <a:ext cx="2367899" cy="2348350"/>
          </a:xfrm>
          <a:prstGeom prst="rect">
            <a:avLst/>
          </a:prstGeom>
          <a:noFill/>
          <a:ln>
            <a:noFill/>
          </a:ln>
        </p:spPr>
      </p:pic>
      <p:pic>
        <p:nvPicPr>
          <p:cNvPr id="101" name="Google Shape;101;p18"/>
          <p:cNvPicPr preferRelativeResize="0"/>
          <p:nvPr/>
        </p:nvPicPr>
        <p:blipFill rotWithShape="1">
          <a:blip r:embed="rId3">
            <a:alphaModFix/>
          </a:blip>
          <a:srcRect b="58175" l="27015" r="57955" t="30795"/>
          <a:stretch/>
        </p:blipFill>
        <p:spPr>
          <a:xfrm>
            <a:off x="6321976" y="2865595"/>
            <a:ext cx="2367899" cy="22099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1745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Patching Code      vs      Ryans Patching Code</a:t>
            </a:r>
            <a:endParaRPr/>
          </a:p>
        </p:txBody>
      </p:sp>
      <p:sp>
        <p:nvSpPr>
          <p:cNvPr id="107" name="Google Shape;107;p19"/>
          <p:cNvSpPr txBox="1"/>
          <p:nvPr>
            <p:ph idx="1" type="body"/>
          </p:nvPr>
        </p:nvSpPr>
        <p:spPr>
          <a:xfrm>
            <a:off x="3101525" y="1086325"/>
            <a:ext cx="2546700" cy="3774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Final patching code does not always create tangents that are on the width of the epithelium. </a:t>
            </a:r>
            <a:endParaRPr/>
          </a:p>
          <a:p>
            <a:pPr indent="0" lvl="0" marL="0" rtl="0" algn="l">
              <a:spcBef>
                <a:spcPts val="1200"/>
              </a:spcBef>
              <a:spcAft>
                <a:spcPts val="0"/>
              </a:spcAft>
              <a:buNone/>
            </a:pPr>
            <a:r>
              <a:rPr lang="en"/>
              <a:t>The small patch on the island is because of the misaligned tangent leading to a normal that is not perpendicular to the epithelium width </a:t>
            </a:r>
            <a:endParaRPr/>
          </a:p>
          <a:p>
            <a:pPr indent="0" lvl="0" marL="0" rtl="0" algn="l">
              <a:spcBef>
                <a:spcPts val="1200"/>
              </a:spcBef>
              <a:spcAft>
                <a:spcPts val="1200"/>
              </a:spcAft>
              <a:buNone/>
            </a:pPr>
            <a:r>
              <a:rPr lang="en"/>
              <a:t>This is due to the differences in how the tangents/normals and the create smarter patches functions are constructed </a:t>
            </a:r>
            <a:endParaRPr/>
          </a:p>
        </p:txBody>
      </p:sp>
      <p:pic>
        <p:nvPicPr>
          <p:cNvPr id="108" name="Google Shape;108;p19"/>
          <p:cNvPicPr preferRelativeResize="0"/>
          <p:nvPr/>
        </p:nvPicPr>
        <p:blipFill>
          <a:blip r:embed="rId3">
            <a:alphaModFix/>
          </a:blip>
          <a:stretch>
            <a:fillRect/>
          </a:stretch>
        </p:blipFill>
        <p:spPr>
          <a:xfrm>
            <a:off x="174500" y="1086325"/>
            <a:ext cx="2686320" cy="3416399"/>
          </a:xfrm>
          <a:prstGeom prst="rect">
            <a:avLst/>
          </a:prstGeom>
          <a:noFill/>
          <a:ln>
            <a:noFill/>
          </a:ln>
        </p:spPr>
      </p:pic>
      <p:pic>
        <p:nvPicPr>
          <p:cNvPr id="109" name="Google Shape;109;p19"/>
          <p:cNvPicPr preferRelativeResize="0"/>
          <p:nvPr/>
        </p:nvPicPr>
        <p:blipFill>
          <a:blip r:embed="rId4">
            <a:alphaModFix/>
          </a:blip>
          <a:stretch>
            <a:fillRect/>
          </a:stretch>
        </p:blipFill>
        <p:spPr>
          <a:xfrm>
            <a:off x="5648375" y="1017450"/>
            <a:ext cx="3183919" cy="3485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Possible Causes</a:t>
            </a:r>
            <a:endParaRPr/>
          </a:p>
        </p:txBody>
      </p:sp>
      <p:sp>
        <p:nvSpPr>
          <p:cNvPr id="115" name="Google Shape;11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t>1: Patch overlap threshold might be filtering it out </a:t>
            </a:r>
            <a:endParaRPr/>
          </a:p>
          <a:p>
            <a:pPr indent="-317182" lvl="0" marL="457200" rtl="0" algn="l">
              <a:spcBef>
                <a:spcPts val="1200"/>
              </a:spcBef>
              <a:spcAft>
                <a:spcPts val="0"/>
              </a:spcAft>
              <a:buSzPct val="100000"/>
              <a:buChar char="-"/>
            </a:pPr>
            <a:r>
              <a:rPr lang="en"/>
              <a:t>If the patch </a:t>
            </a:r>
            <a:r>
              <a:rPr lang="en"/>
              <a:t>overlaps</a:t>
            </a:r>
            <a:r>
              <a:rPr lang="en"/>
              <a:t> too much with a </a:t>
            </a:r>
            <a:r>
              <a:rPr lang="en"/>
              <a:t>previously</a:t>
            </a:r>
            <a:r>
              <a:rPr lang="en"/>
              <a:t> placed patch (more than the overlap_thresh defined) it is being discarded</a:t>
            </a:r>
            <a:endParaRPr/>
          </a:p>
          <a:p>
            <a:pPr indent="-317182" lvl="0" marL="457200" rtl="0" algn="l">
              <a:spcBef>
                <a:spcPts val="0"/>
              </a:spcBef>
              <a:spcAft>
                <a:spcPts val="0"/>
              </a:spcAft>
              <a:buSzPct val="100000"/>
              <a:buChar char="-"/>
            </a:pPr>
            <a:r>
              <a:rPr lang="en"/>
              <a:t>Reduce overlap_thresh or allow for at least one patch to form even if it overlaps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2:The normal calculation might be wrong</a:t>
            </a:r>
            <a:endParaRPr/>
          </a:p>
          <a:p>
            <a:pPr indent="-317182" lvl="0" marL="457200" rtl="0" algn="l">
              <a:spcBef>
                <a:spcPts val="1200"/>
              </a:spcBef>
              <a:spcAft>
                <a:spcPts val="0"/>
              </a:spcAft>
              <a:buSzPct val="100000"/>
              <a:buChar char="-"/>
            </a:pPr>
            <a:r>
              <a:rPr lang="en"/>
              <a:t>If the normal points slightly inward, it will reduce the detected width causing the epithelium to not be able to be registered from the background pixels causing the width calculations to be 0</a:t>
            </a:r>
            <a:endParaRPr/>
          </a:p>
          <a:p>
            <a:pPr indent="-317182" lvl="0" marL="457200" rtl="0" algn="l">
              <a:spcBef>
                <a:spcPts val="0"/>
              </a:spcBef>
              <a:spcAft>
                <a:spcPts val="0"/>
              </a:spcAft>
              <a:buSzPct val="100000"/>
              <a:buChar char="-"/>
            </a:pPr>
            <a:r>
              <a:rPr lang="en"/>
              <a:t>Create a normal calculator that changes based on the normals being created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231125"/>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79"/>
              <a:t>Incorporate create_smarter_patches </a:t>
            </a:r>
            <a:r>
              <a:rPr lang="en" sz="1679"/>
              <a:t>from Ryans code into Final Patching Code</a:t>
            </a:r>
            <a:r>
              <a:rPr lang="en" sz="1679"/>
              <a:t>  </a:t>
            </a:r>
            <a:endParaRPr sz="1679"/>
          </a:p>
        </p:txBody>
      </p:sp>
      <p:pic>
        <p:nvPicPr>
          <p:cNvPr id="121" name="Google Shape;121;p21"/>
          <p:cNvPicPr preferRelativeResize="0"/>
          <p:nvPr/>
        </p:nvPicPr>
        <p:blipFill>
          <a:blip r:embed="rId3">
            <a:alphaModFix/>
          </a:blip>
          <a:stretch>
            <a:fillRect/>
          </a:stretch>
        </p:blipFill>
        <p:spPr>
          <a:xfrm>
            <a:off x="311697" y="1001175"/>
            <a:ext cx="3180178" cy="4044450"/>
          </a:xfrm>
          <a:prstGeom prst="rect">
            <a:avLst/>
          </a:prstGeom>
          <a:noFill/>
          <a:ln>
            <a:noFill/>
          </a:ln>
        </p:spPr>
      </p:pic>
      <p:pic>
        <p:nvPicPr>
          <p:cNvPr id="122" name="Google Shape;122;p21"/>
          <p:cNvPicPr preferRelativeResize="0"/>
          <p:nvPr/>
        </p:nvPicPr>
        <p:blipFill rotWithShape="1">
          <a:blip r:embed="rId3">
            <a:alphaModFix/>
          </a:blip>
          <a:srcRect b="52320" l="26519" r="46956" t="29353"/>
          <a:stretch/>
        </p:blipFill>
        <p:spPr>
          <a:xfrm>
            <a:off x="3654175" y="1115888"/>
            <a:ext cx="2668526" cy="2344925"/>
          </a:xfrm>
          <a:prstGeom prst="rect">
            <a:avLst/>
          </a:prstGeom>
          <a:noFill/>
          <a:ln>
            <a:noFill/>
          </a:ln>
        </p:spPr>
      </p:pic>
      <p:pic>
        <p:nvPicPr>
          <p:cNvPr id="123" name="Google Shape;123;p21"/>
          <p:cNvPicPr preferRelativeResize="0"/>
          <p:nvPr/>
        </p:nvPicPr>
        <p:blipFill rotWithShape="1">
          <a:blip r:embed="rId3">
            <a:alphaModFix/>
          </a:blip>
          <a:srcRect b="57384" l="27634" r="56998" t="30225"/>
          <a:stretch/>
        </p:blipFill>
        <p:spPr>
          <a:xfrm>
            <a:off x="6761350" y="2707550"/>
            <a:ext cx="2137499" cy="2191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