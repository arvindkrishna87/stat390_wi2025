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Roboto Ligh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gBBY+CqgJ9+Xpeg7ojv3u1Si0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Light-bold.fntdata"/><Relationship Id="rId14" Type="http://schemas.openxmlformats.org/officeDocument/2006/relationships/font" Target="fonts/RobotoLight-regular.fntdata"/><Relationship Id="rId17" Type="http://schemas.openxmlformats.org/officeDocument/2006/relationships/font" Target="fonts/RobotoLight-boldItalic.fntdata"/><Relationship Id="rId16" Type="http://schemas.openxmlformats.org/officeDocument/2006/relationships/font" Target="fonts/Roboto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43e214d0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443e214d0d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43e214d0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443e214d0d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3043837" y="2520223"/>
            <a:ext cx="121791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Small Patch Explanation</a:t>
            </a:r>
            <a:endParaRPr sz="16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05507" y="768100"/>
            <a:ext cx="6178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 390: DATA SCIENCE CAPSTONE</a:t>
            </a:r>
            <a:endParaRPr sz="24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05489" y="8994425"/>
            <a:ext cx="4747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 18, 2025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2511960" y="9002119"/>
            <a:ext cx="4747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Lainey Neild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496029" y="9002119"/>
            <a:ext cx="1274721" cy="45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 rot="5400000">
            <a:off x="4043754" y="-2807131"/>
            <a:ext cx="1345592" cy="7766105"/>
            <a:chOff x="0" y="-66675"/>
            <a:chExt cx="1386636" cy="2033544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386636" cy="1966869"/>
            </a:xfrm>
            <a:custGeom>
              <a:rect b="b" l="l" r="r" t="t"/>
              <a:pathLst>
                <a:path extrusionOk="0"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-66675"/>
              <a:ext cx="13866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1005499" y="691900"/>
            <a:ext cx="7451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Case 57 H&amp;E Match 1</a:t>
            </a:r>
            <a:endParaRPr sz="5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9006265" y="1548527"/>
            <a:ext cx="8355938" cy="8349051"/>
            <a:chOff x="0" y="-66675"/>
            <a:chExt cx="2276100" cy="2041800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2276019" cy="1975074"/>
            </a:xfrm>
            <a:custGeom>
              <a:rect b="b" l="l" r="r" t="t"/>
              <a:pathLst>
                <a:path extrusionOk="0" h="1975074" w="2276019">
                  <a:moveTo>
                    <a:pt x="50169" y="0"/>
                  </a:moveTo>
                  <a:lnTo>
                    <a:pt x="2225851" y="0"/>
                  </a:lnTo>
                  <a:cubicBezTo>
                    <a:pt x="2239156" y="0"/>
                    <a:pt x="2251917" y="5286"/>
                    <a:pt x="2261325" y="14694"/>
                  </a:cubicBezTo>
                  <a:cubicBezTo>
                    <a:pt x="2270734" y="24103"/>
                    <a:pt x="2276019" y="36863"/>
                    <a:pt x="2276019" y="50169"/>
                  </a:cubicBezTo>
                  <a:lnTo>
                    <a:pt x="2276019" y="1924905"/>
                  </a:lnTo>
                  <a:cubicBezTo>
                    <a:pt x="2276019" y="1952612"/>
                    <a:pt x="2253558" y="1975074"/>
                    <a:pt x="2225851" y="1975074"/>
                  </a:cubicBezTo>
                  <a:lnTo>
                    <a:pt x="50169" y="1975074"/>
                  </a:lnTo>
                  <a:cubicBezTo>
                    <a:pt x="36863" y="1975074"/>
                    <a:pt x="24103" y="1969788"/>
                    <a:pt x="14694" y="1960380"/>
                  </a:cubicBezTo>
                  <a:cubicBezTo>
                    <a:pt x="5286" y="1950971"/>
                    <a:pt x="0" y="1938210"/>
                    <a:pt x="0" y="1924905"/>
                  </a:cubicBezTo>
                  <a:lnTo>
                    <a:pt x="0" y="50169"/>
                  </a:lnTo>
                  <a:cubicBezTo>
                    <a:pt x="0" y="36863"/>
                    <a:pt x="5286" y="24103"/>
                    <a:pt x="14694" y="14694"/>
                  </a:cubicBezTo>
                  <a:cubicBezTo>
                    <a:pt x="24103" y="5286"/>
                    <a:pt x="36863" y="0"/>
                    <a:pt x="50169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66675"/>
              <a:ext cx="2276100" cy="20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157911" y="2053574"/>
            <a:ext cx="5393057" cy="7844013"/>
            <a:chOff x="9502350" y="630250"/>
            <a:chExt cx="5959500" cy="9159000"/>
          </a:xfrm>
        </p:grpSpPr>
        <p:sp>
          <p:nvSpPr>
            <p:cNvPr id="104" name="Google Shape;104;p2"/>
            <p:cNvSpPr/>
            <p:nvPr/>
          </p:nvSpPr>
          <p:spPr>
            <a:xfrm rot="5400000">
              <a:off x="7902600" y="2230000"/>
              <a:ext cx="9159000" cy="5959500"/>
            </a:xfrm>
            <a:prstGeom prst="roundRect">
              <a:avLst>
                <a:gd fmla="val 7943" name="adj"/>
              </a:avLst>
            </a:prstGeom>
            <a:solidFill>
              <a:srgbClr val="3C3A55">
                <a:alpha val="82280"/>
              </a:srgbClr>
            </a:solidFill>
            <a:ln cap="flat" cmpd="sng" w="9525">
              <a:solidFill>
                <a:srgbClr val="3C3A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5" name="Google Shape;105;p2" title="patched_case_057_match_1_h&amp;e.png"/>
            <p:cNvPicPr preferRelativeResize="0"/>
            <p:nvPr/>
          </p:nvPicPr>
          <p:blipFill rotWithShape="1">
            <a:blip r:embed="rId3">
              <a:alphaModFix/>
            </a:blip>
            <a:srcRect b="45761" l="50147" r="0" t="0"/>
            <a:stretch/>
          </p:blipFill>
          <p:spPr>
            <a:xfrm>
              <a:off x="9758248" y="846539"/>
              <a:ext cx="5447700" cy="8726400"/>
            </a:xfrm>
            <a:prstGeom prst="roundRect">
              <a:avLst>
                <a:gd fmla="val 7222" name="adj"/>
              </a:avLst>
            </a:prstGeom>
            <a:noFill/>
            <a:ln>
              <a:noFill/>
            </a:ln>
          </p:spPr>
        </p:pic>
      </p:grpSp>
      <p:sp>
        <p:nvSpPr>
          <p:cNvPr id="106" name="Google Shape;106;p2"/>
          <p:cNvSpPr/>
          <p:nvPr/>
        </p:nvSpPr>
        <p:spPr>
          <a:xfrm>
            <a:off x="2880073" y="2437637"/>
            <a:ext cx="1308900" cy="1245300"/>
          </a:xfrm>
          <a:prstGeom prst="ellipse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2"/>
          <p:cNvCxnSpPr/>
          <p:nvPr/>
        </p:nvCxnSpPr>
        <p:spPr>
          <a:xfrm flipH="1" rot="10800000">
            <a:off x="7034200" y="5143425"/>
            <a:ext cx="1565400" cy="20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8" name="Google Shape;108;p2" title="patched_case_057_match_1_h&amp;e.png"/>
          <p:cNvPicPr preferRelativeResize="0"/>
          <p:nvPr/>
        </p:nvPicPr>
        <p:blipFill rotWithShape="1">
          <a:blip r:embed="rId3">
            <a:alphaModFix/>
          </a:blip>
          <a:srcRect b="86380" l="61939" r="18390" t="0"/>
          <a:stretch/>
        </p:blipFill>
        <p:spPr>
          <a:xfrm>
            <a:off x="9529350" y="2330288"/>
            <a:ext cx="7557000" cy="7290300"/>
          </a:xfrm>
          <a:prstGeom prst="roundRect">
            <a:avLst>
              <a:gd fmla="val 721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g3443e214d0d_0_30"/>
          <p:cNvGrpSpPr/>
          <p:nvPr/>
        </p:nvGrpSpPr>
        <p:grpSpPr>
          <a:xfrm rot="5400000">
            <a:off x="3617048" y="-2379986"/>
            <a:ext cx="1345592" cy="6911813"/>
            <a:chOff x="0" y="-66675"/>
            <a:chExt cx="1386636" cy="2033544"/>
          </a:xfrm>
        </p:grpSpPr>
        <p:sp>
          <p:nvSpPr>
            <p:cNvPr id="114" name="Google Shape;114;g3443e214d0d_0_30"/>
            <p:cNvSpPr/>
            <p:nvPr/>
          </p:nvSpPr>
          <p:spPr>
            <a:xfrm>
              <a:off x="0" y="0"/>
              <a:ext cx="1386636" cy="1966869"/>
            </a:xfrm>
            <a:custGeom>
              <a:rect b="b" l="l" r="r" t="t"/>
              <a:pathLst>
                <a:path extrusionOk="0"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443e214d0d_0_30"/>
            <p:cNvSpPr txBox="1"/>
            <p:nvPr/>
          </p:nvSpPr>
          <p:spPr>
            <a:xfrm>
              <a:off x="0" y="-66675"/>
              <a:ext cx="13866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g3443e214d0d_0_30"/>
          <p:cNvSpPr txBox="1"/>
          <p:nvPr/>
        </p:nvSpPr>
        <p:spPr>
          <a:xfrm>
            <a:off x="1005500" y="691900"/>
            <a:ext cx="9464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Tangent and Normal</a:t>
            </a:r>
            <a:endParaRPr sz="50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17" name="Google Shape;117;g3443e214d0d_0_30"/>
          <p:cNvGrpSpPr/>
          <p:nvPr/>
        </p:nvGrpSpPr>
        <p:grpSpPr>
          <a:xfrm>
            <a:off x="834058" y="1748705"/>
            <a:ext cx="6993412" cy="5142784"/>
            <a:chOff x="3618746" y="1748725"/>
            <a:chExt cx="5326285" cy="8253545"/>
          </a:xfrm>
        </p:grpSpPr>
        <p:sp>
          <p:nvSpPr>
            <p:cNvPr id="118" name="Google Shape;118;g3443e214d0d_0_30"/>
            <p:cNvSpPr/>
            <p:nvPr/>
          </p:nvSpPr>
          <p:spPr>
            <a:xfrm>
              <a:off x="3618746" y="2019339"/>
              <a:ext cx="5174848" cy="7982931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647"/>
                  </a:srgbClr>
                </a:gs>
                <a:gs pos="100000">
                  <a:srgbClr val="DDDDDD">
                    <a:alpha val="14509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443e214d0d_0_30"/>
            <p:cNvSpPr txBox="1"/>
            <p:nvPr/>
          </p:nvSpPr>
          <p:spPr>
            <a:xfrm>
              <a:off x="3618746" y="1748725"/>
              <a:ext cx="5326285" cy="82529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0" name="Google Shape;120;g3443e214d0d_0_30" title="Screenshot 2025-03-19 at 6.06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9550" y="691900"/>
            <a:ext cx="5044571" cy="89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443e214d0d_0_30" title="patched_case_057_match_1_h&amp;e.png"/>
          <p:cNvPicPr preferRelativeResize="0"/>
          <p:nvPr/>
        </p:nvPicPr>
        <p:blipFill rotWithShape="1">
          <a:blip r:embed="rId4">
            <a:alphaModFix/>
          </a:blip>
          <a:srcRect b="0" l="49917" r="0" t="0"/>
          <a:stretch/>
        </p:blipFill>
        <p:spPr>
          <a:xfrm>
            <a:off x="14016827" y="666100"/>
            <a:ext cx="3219105" cy="895479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443e214d0d_0_30"/>
          <p:cNvSpPr/>
          <p:nvPr/>
        </p:nvSpPr>
        <p:spPr>
          <a:xfrm>
            <a:off x="9873973" y="992812"/>
            <a:ext cx="1308900" cy="1245300"/>
          </a:xfrm>
          <a:prstGeom prst="ellipse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443e214d0d_0_30"/>
          <p:cNvSpPr/>
          <p:nvPr/>
        </p:nvSpPr>
        <p:spPr>
          <a:xfrm>
            <a:off x="14528498" y="503437"/>
            <a:ext cx="1308900" cy="1245300"/>
          </a:xfrm>
          <a:prstGeom prst="ellipse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443e214d0d_0_30"/>
          <p:cNvSpPr txBox="1"/>
          <p:nvPr/>
        </p:nvSpPr>
        <p:spPr>
          <a:xfrm>
            <a:off x="1177475" y="2213550"/>
            <a:ext cx="61413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oppins"/>
              <a:buChar char="●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Used Alex’s code to plot tangents and normals</a:t>
            </a:r>
            <a:endParaRPr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oppins"/>
              <a:buChar char="●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 the place of the tiny patch, we see the tangents and normals go abnormal</a:t>
            </a:r>
            <a:endParaRPr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oppins"/>
              <a:buChar char="●"/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Possible reasoning: from soothing factor</a:t>
            </a:r>
            <a:endParaRPr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g3443e214d0d_0_90"/>
          <p:cNvGrpSpPr/>
          <p:nvPr/>
        </p:nvGrpSpPr>
        <p:grpSpPr>
          <a:xfrm>
            <a:off x="296111" y="204876"/>
            <a:ext cx="17695893" cy="9732651"/>
            <a:chOff x="0" y="-38100"/>
            <a:chExt cx="4660616" cy="2563315"/>
          </a:xfrm>
        </p:grpSpPr>
        <p:sp>
          <p:nvSpPr>
            <p:cNvPr id="130" name="Google Shape;130;g3443e214d0d_0_90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g3443e214d0d_0_90"/>
            <p:cNvSpPr txBox="1"/>
            <p:nvPr/>
          </p:nvSpPr>
          <p:spPr>
            <a:xfrm>
              <a:off x="0" y="-38100"/>
              <a:ext cx="4660500" cy="25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g3443e214d0d_0_90"/>
          <p:cNvSpPr txBox="1"/>
          <p:nvPr/>
        </p:nvSpPr>
        <p:spPr>
          <a:xfrm>
            <a:off x="3043837" y="1995210"/>
            <a:ext cx="12179100" cy="6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THANK </a:t>
            </a:r>
            <a:endParaRPr sz="200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YOU</a:t>
            </a:r>
            <a:endParaRPr sz="20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3" name="Google Shape;133;g3443e214d0d_0_90"/>
          <p:cNvSpPr txBox="1"/>
          <p:nvPr/>
        </p:nvSpPr>
        <p:spPr>
          <a:xfrm>
            <a:off x="1005507" y="768100"/>
            <a:ext cx="6178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STAT 390: DATA SCIENCE CAPSTONE</a:t>
            </a:r>
            <a:endParaRPr sz="245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g3443e214d0d_0_90"/>
          <p:cNvSpPr txBox="1"/>
          <p:nvPr/>
        </p:nvSpPr>
        <p:spPr>
          <a:xfrm>
            <a:off x="1005489" y="8994425"/>
            <a:ext cx="4747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 18, 2025</a:t>
            </a:r>
            <a:endParaRPr/>
          </a:p>
        </p:txBody>
      </p:sp>
      <p:sp>
        <p:nvSpPr>
          <p:cNvPr id="135" name="Google Shape;135;g3443e214d0d_0_90"/>
          <p:cNvSpPr txBox="1"/>
          <p:nvPr/>
        </p:nvSpPr>
        <p:spPr>
          <a:xfrm>
            <a:off x="12511960" y="9002119"/>
            <a:ext cx="4747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Lainey Neild</a:t>
            </a:r>
            <a:endParaRPr/>
          </a:p>
        </p:txBody>
      </p:sp>
      <p:sp>
        <p:nvSpPr>
          <p:cNvPr id="136" name="Google Shape;136;g3443e214d0d_0_90"/>
          <p:cNvSpPr txBox="1"/>
          <p:nvPr/>
        </p:nvSpPr>
        <p:spPr>
          <a:xfrm>
            <a:off x="8496029" y="9002119"/>
            <a:ext cx="1274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