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Average"/>
      <p:regular r:id="rId10"/>
    </p:embeddedFont>
    <p:embeddedFont>
      <p:font typeface="Oswald"/>
      <p:regular r:id="rId11"/>
      <p:bold r:id="rId12"/>
    </p:embeddedFont>
    <p:embeddedFont>
      <p:font typeface="Open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swald-regular.fntdata"/><Relationship Id="rId10" Type="http://schemas.openxmlformats.org/officeDocument/2006/relationships/font" Target="fonts/Average-regular.fntdata"/><Relationship Id="rId13" Type="http://schemas.openxmlformats.org/officeDocument/2006/relationships/font" Target="fonts/OpenSans-regular.fntdata"/><Relationship Id="rId12"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enSans-italic.fntdata"/><Relationship Id="rId14" Type="http://schemas.openxmlformats.org/officeDocument/2006/relationships/font" Target="fonts/OpenSans-bold.fntdata"/><Relationship Id="rId16"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18e31f01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18e31f01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18e31f01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18e31f01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t>
            </a:r>
            <a:r>
              <a:rPr lang="en"/>
              <a:t>he error here appears to be that the patch fails </a:t>
            </a:r>
            <a:r>
              <a:rPr i="1" lang="en"/>
              <a:t>despite</a:t>
            </a:r>
            <a:r>
              <a:rPr lang="en"/>
              <a:t> the fact that the normal vector here would appear to capture the epithelium width if extended. </a:t>
            </a:r>
            <a:endParaRPr/>
          </a:p>
          <a:p>
            <a:pPr indent="-298450" lvl="0" marL="457200" rtl="0" algn="l">
              <a:spcBef>
                <a:spcPts val="0"/>
              </a:spcBef>
              <a:spcAft>
                <a:spcPts val="0"/>
              </a:spcAft>
              <a:buSzPts val="1100"/>
              <a:buChar char="-"/>
            </a:pPr>
            <a:r>
              <a:rPr lang="en"/>
              <a:t>Therefore, the issue in my case appears to be with the function calculate_patch_corners (since the patch should extend across the entire width), in addition to the functions calculating the normal vector (since one would think, from looking at this image, that this particular normal vector appears (</a:t>
            </a:r>
            <a:r>
              <a:rPr lang="en">
                <a:solidFill>
                  <a:schemeClr val="dk1"/>
                </a:solidFill>
              </a:rPr>
              <a:t>Appears to not leverage the normal direction to the best of its abilities)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18e31f01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18e31f01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Presentation 6 (Case 67, Match 1)</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Olivia Joung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title="Screenshot 2025-03-18 at 1.31.35 PM.png"/>
          <p:cNvPicPr preferRelativeResize="0"/>
          <p:nvPr/>
        </p:nvPicPr>
        <p:blipFill>
          <a:blip r:embed="rId3">
            <a:alphaModFix/>
          </a:blip>
          <a:stretch>
            <a:fillRect/>
          </a:stretch>
        </p:blipFill>
        <p:spPr>
          <a:xfrm>
            <a:off x="416137" y="212700"/>
            <a:ext cx="8311726" cy="3066125"/>
          </a:xfrm>
          <a:prstGeom prst="rect">
            <a:avLst/>
          </a:prstGeom>
          <a:noFill/>
          <a:ln>
            <a:noFill/>
          </a:ln>
        </p:spPr>
      </p:pic>
      <p:pic>
        <p:nvPicPr>
          <p:cNvPr id="66" name="Google Shape;66;p14" title="Screenshot 2025-03-18 at 1.33.32 PM.png"/>
          <p:cNvPicPr preferRelativeResize="0"/>
          <p:nvPr/>
        </p:nvPicPr>
        <p:blipFill>
          <a:blip r:embed="rId4">
            <a:alphaModFix/>
          </a:blip>
          <a:stretch>
            <a:fillRect/>
          </a:stretch>
        </p:blipFill>
        <p:spPr>
          <a:xfrm>
            <a:off x="2556225" y="2571750"/>
            <a:ext cx="3716949" cy="23552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title="Screenshot 2025-03-18 at 11.23.21 AM.png"/>
          <p:cNvPicPr preferRelativeResize="0"/>
          <p:nvPr/>
        </p:nvPicPr>
        <p:blipFill rotWithShape="1">
          <a:blip r:embed="rId3">
            <a:alphaModFix/>
          </a:blip>
          <a:srcRect b="0" l="0" r="0" t="5168"/>
          <a:stretch/>
        </p:blipFill>
        <p:spPr>
          <a:xfrm>
            <a:off x="157225" y="340776"/>
            <a:ext cx="4857850" cy="4461949"/>
          </a:xfrm>
          <a:prstGeom prst="rect">
            <a:avLst/>
          </a:prstGeom>
          <a:noFill/>
          <a:ln>
            <a:noFill/>
          </a:ln>
        </p:spPr>
      </p:pic>
      <p:sp>
        <p:nvSpPr>
          <p:cNvPr id="72" name="Google Shape;72;p15"/>
          <p:cNvSpPr txBox="1"/>
          <p:nvPr/>
        </p:nvSpPr>
        <p:spPr>
          <a:xfrm>
            <a:off x="5083700" y="340775"/>
            <a:ext cx="3887700" cy="44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800">
                <a:solidFill>
                  <a:schemeClr val="lt2"/>
                </a:solidFill>
                <a:latin typeface="Average"/>
                <a:ea typeface="Average"/>
                <a:cs typeface="Average"/>
                <a:sym typeface="Average"/>
              </a:rPr>
              <a:t>Issues:</a:t>
            </a:r>
            <a:endParaRPr b="1" i="1" sz="1800">
              <a:solidFill>
                <a:schemeClr val="lt2"/>
              </a:solidFill>
              <a:latin typeface="Average"/>
              <a:ea typeface="Average"/>
              <a:cs typeface="Average"/>
              <a:sym typeface="Average"/>
            </a:endParaRPr>
          </a:p>
          <a:p>
            <a:pPr indent="0" lvl="0" marL="0" rtl="0" algn="l">
              <a:spcBef>
                <a:spcPts val="0"/>
              </a:spcBef>
              <a:spcAft>
                <a:spcPts val="0"/>
              </a:spcAft>
              <a:buNone/>
            </a:pPr>
            <a:r>
              <a:t/>
            </a:r>
            <a:endParaRPr b="1" i="1" sz="1800">
              <a:solidFill>
                <a:schemeClr val="lt2"/>
              </a:solidFill>
              <a:latin typeface="Average"/>
              <a:ea typeface="Average"/>
              <a:cs typeface="Average"/>
              <a:sym typeface="Average"/>
            </a:endParaRPr>
          </a:p>
          <a:p>
            <a:pPr indent="-342900" lvl="0" marL="457200" rtl="0" algn="l">
              <a:spcBef>
                <a:spcPts val="0"/>
              </a:spcBef>
              <a:spcAft>
                <a:spcPts val="0"/>
              </a:spcAft>
              <a:buClr>
                <a:schemeClr val="lt2"/>
              </a:buClr>
              <a:buSzPts val="1800"/>
              <a:buChar char="●"/>
            </a:pPr>
            <a:r>
              <a:rPr b="1" i="1" lang="en" sz="1800">
                <a:solidFill>
                  <a:schemeClr val="lt2"/>
                </a:solidFill>
                <a:latin typeface="Average"/>
                <a:ea typeface="Average"/>
                <a:cs typeface="Average"/>
                <a:sym typeface="Average"/>
              </a:rPr>
              <a:t>Normal/tangent vector placements - </a:t>
            </a:r>
            <a:r>
              <a:rPr lang="en" sz="1800">
                <a:solidFill>
                  <a:schemeClr val="lt2"/>
                </a:solidFill>
                <a:latin typeface="Average"/>
                <a:ea typeface="Average"/>
                <a:cs typeface="Average"/>
                <a:sym typeface="Average"/>
              </a:rPr>
              <a:t>Tangent not aligned with contour boundary direction, also causing incorrect normal vector</a:t>
            </a:r>
            <a:endParaRPr sz="1800">
              <a:solidFill>
                <a:schemeClr val="lt2"/>
              </a:solidFill>
              <a:latin typeface="Average"/>
              <a:ea typeface="Average"/>
              <a:cs typeface="Average"/>
              <a:sym typeface="Average"/>
            </a:endParaRPr>
          </a:p>
          <a:p>
            <a:pPr indent="-342900" lvl="0" marL="457200" rtl="0" algn="l">
              <a:spcBef>
                <a:spcPts val="0"/>
              </a:spcBef>
              <a:spcAft>
                <a:spcPts val="0"/>
              </a:spcAft>
              <a:buClr>
                <a:schemeClr val="lt2"/>
              </a:buClr>
              <a:buSzPts val="1800"/>
              <a:buFont typeface="Average"/>
              <a:buChar char="●"/>
            </a:pPr>
            <a:r>
              <a:rPr b="1" i="1" lang="en" sz="1800">
                <a:solidFill>
                  <a:schemeClr val="lt2"/>
                </a:solidFill>
                <a:latin typeface="Average"/>
                <a:ea typeface="Average"/>
                <a:cs typeface="Average"/>
                <a:sym typeface="Average"/>
              </a:rPr>
              <a:t>Patch rotation - </a:t>
            </a:r>
            <a:r>
              <a:rPr lang="en" sz="1800">
                <a:solidFill>
                  <a:schemeClr val="lt2"/>
                </a:solidFill>
                <a:latin typeface="Average"/>
                <a:ea typeface="Average"/>
                <a:cs typeface="Average"/>
                <a:sym typeface="Average"/>
              </a:rPr>
              <a:t>Actual rotation of the patch also does not follow the projected path of the normal line (not parallel)</a:t>
            </a:r>
            <a:endParaRPr sz="1800">
              <a:solidFill>
                <a:schemeClr val="lt2"/>
              </a:solidFill>
              <a:latin typeface="Average"/>
              <a:ea typeface="Average"/>
              <a:cs typeface="Average"/>
              <a:sym typeface="Average"/>
            </a:endParaRPr>
          </a:p>
          <a:p>
            <a:pPr indent="-317500" lvl="0" marL="457200" rtl="0" algn="l">
              <a:spcBef>
                <a:spcPts val="0"/>
              </a:spcBef>
              <a:spcAft>
                <a:spcPts val="0"/>
              </a:spcAft>
              <a:buClr>
                <a:schemeClr val="lt2"/>
              </a:buClr>
              <a:buSzPts val="1400"/>
              <a:buFont typeface="Average"/>
              <a:buChar char="●"/>
            </a:pPr>
            <a:r>
              <a:rPr lang="en">
                <a:solidFill>
                  <a:schemeClr val="lt2"/>
                </a:solidFill>
                <a:latin typeface="Average"/>
                <a:ea typeface="Average"/>
                <a:cs typeface="Average"/>
                <a:sym typeface="Average"/>
              </a:rPr>
              <a:t> </a:t>
            </a:r>
            <a:r>
              <a:rPr b="1" i="1" lang="en">
                <a:solidFill>
                  <a:schemeClr val="lt2"/>
                </a:solidFill>
                <a:latin typeface="Average"/>
                <a:ea typeface="Average"/>
                <a:cs typeface="Average"/>
                <a:sym typeface="Average"/>
              </a:rPr>
              <a:t>`calculate_patch_corners` - </a:t>
            </a:r>
            <a:r>
              <a:rPr lang="en">
                <a:solidFill>
                  <a:schemeClr val="lt2"/>
                </a:solidFill>
                <a:latin typeface="Average"/>
                <a:ea typeface="Average"/>
                <a:cs typeface="Average"/>
                <a:sym typeface="Average"/>
              </a:rPr>
              <a:t>Patch should extend across entire epithelium width, given direction of normal vector </a:t>
            </a:r>
            <a:endParaRPr>
              <a:solidFill>
                <a:schemeClr val="lt2"/>
              </a:solidFill>
              <a:latin typeface="Average"/>
              <a:ea typeface="Average"/>
              <a:cs typeface="Average"/>
              <a:sym typeface="Average"/>
            </a:endParaRPr>
          </a:p>
          <a:p>
            <a:pPr indent="-317500" lvl="1" marL="914400" rtl="0" algn="l">
              <a:spcBef>
                <a:spcPts val="0"/>
              </a:spcBef>
              <a:spcAft>
                <a:spcPts val="0"/>
              </a:spcAft>
              <a:buClr>
                <a:schemeClr val="lt2"/>
              </a:buClr>
              <a:buSzPts val="1400"/>
              <a:buFont typeface="Average"/>
              <a:buChar char="○"/>
            </a:pPr>
            <a:r>
              <a:rPr b="1" lang="en">
                <a:solidFill>
                  <a:schemeClr val="lt2"/>
                </a:solidFill>
                <a:latin typeface="Average"/>
                <a:ea typeface="Average"/>
                <a:cs typeface="Average"/>
                <a:sym typeface="Average"/>
              </a:rPr>
              <a:t>NOTE: </a:t>
            </a:r>
            <a:r>
              <a:rPr lang="en">
                <a:solidFill>
                  <a:schemeClr val="lt2"/>
                </a:solidFill>
                <a:latin typeface="Average"/>
                <a:ea typeface="Average"/>
                <a:cs typeface="Average"/>
                <a:sym typeface="Average"/>
              </a:rPr>
              <a:t>After the rest of the presentations, this issue doesn’t seem as relevant—primary issue is likely the normal/tangent line placements.</a:t>
            </a:r>
            <a:endParaRPr>
              <a:solidFill>
                <a:schemeClr val="lt2"/>
              </a:solidFill>
              <a:latin typeface="Average"/>
              <a:ea typeface="Average"/>
              <a:cs typeface="Average"/>
              <a:sym typeface="Average"/>
            </a:endParaRPr>
          </a:p>
          <a:p>
            <a:pPr indent="0" lvl="0" marL="0" rtl="0" algn="l">
              <a:spcBef>
                <a:spcPts val="0"/>
              </a:spcBef>
              <a:spcAft>
                <a:spcPts val="0"/>
              </a:spcAft>
              <a:buNone/>
            </a:pPr>
            <a:r>
              <a:t/>
            </a:r>
            <a:endParaRPr b="1" i="1" sz="1800">
              <a:solidFill>
                <a:schemeClr val="lt2"/>
              </a:solidFill>
              <a:latin typeface="Open Sans"/>
              <a:ea typeface="Open Sans"/>
              <a:cs typeface="Open Sans"/>
              <a:sym typeface="Open Sans"/>
            </a:endParaRPr>
          </a:p>
          <a:p>
            <a:pPr indent="0" lvl="0" marL="0" rtl="0" algn="l">
              <a:spcBef>
                <a:spcPts val="0"/>
              </a:spcBef>
              <a:spcAft>
                <a:spcPts val="0"/>
              </a:spcAft>
              <a:buNone/>
            </a:pPr>
            <a:r>
              <a:t/>
            </a:r>
            <a:endParaRPr b="1" i="1" sz="1800">
              <a:solidFill>
                <a:schemeClr val="lt2"/>
              </a:solidFill>
              <a:latin typeface="Open Sans"/>
              <a:ea typeface="Open Sans"/>
              <a:cs typeface="Open Sans"/>
              <a:sym typeface="Open Sans"/>
            </a:endParaRPr>
          </a:p>
          <a:p>
            <a:pPr indent="0" lvl="0" marL="0" rtl="0" algn="l">
              <a:spcBef>
                <a:spcPts val="0"/>
              </a:spcBef>
              <a:spcAft>
                <a:spcPts val="0"/>
              </a:spcAft>
              <a:buNone/>
            </a:pPr>
            <a:r>
              <a:t/>
            </a:r>
            <a:endParaRPr b="1" i="1" sz="1800">
              <a:solidFill>
                <a:schemeClr val="lt2"/>
              </a:solidFill>
              <a:latin typeface="Open Sans"/>
              <a:ea typeface="Open Sans"/>
              <a:cs typeface="Open Sans"/>
              <a:sym typeface="Open Sans"/>
            </a:endParaRPr>
          </a:p>
          <a:p>
            <a:pPr indent="0" lvl="0" marL="0" rtl="0" algn="l">
              <a:spcBef>
                <a:spcPts val="0"/>
              </a:spcBef>
              <a:spcAft>
                <a:spcPts val="0"/>
              </a:spcAft>
              <a:buNone/>
            </a:pPr>
            <a:r>
              <a:t/>
            </a:r>
            <a:endParaRPr b="1" i="1" sz="1800">
              <a:solidFill>
                <a:schemeClr val="lt2"/>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lt2"/>
              </a:solidFill>
              <a:latin typeface="Average"/>
              <a:ea typeface="Average"/>
              <a:cs typeface="Average"/>
              <a:sym typeface="Average"/>
            </a:endParaRPr>
          </a:p>
          <a:p>
            <a:pPr indent="0" lvl="0" marL="0" rtl="0" algn="l">
              <a:spcBef>
                <a:spcPts val="0"/>
              </a:spcBef>
              <a:spcAft>
                <a:spcPts val="0"/>
              </a:spcAft>
              <a:buNone/>
            </a:pPr>
            <a:r>
              <a:t/>
            </a:r>
            <a:endParaRPr sz="1800">
              <a:solidFill>
                <a:schemeClr val="lt2"/>
              </a:solidFill>
              <a:latin typeface="Average"/>
              <a:ea typeface="Average"/>
              <a:cs typeface="Average"/>
              <a:sym typeface="Average"/>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title="Screenshot 2025-03-18 at 4.05.21 PM.png"/>
          <p:cNvPicPr preferRelativeResize="0"/>
          <p:nvPr/>
        </p:nvPicPr>
        <p:blipFill>
          <a:blip r:embed="rId3">
            <a:alphaModFix/>
          </a:blip>
          <a:stretch>
            <a:fillRect/>
          </a:stretch>
        </p:blipFill>
        <p:spPr>
          <a:xfrm>
            <a:off x="152400" y="152400"/>
            <a:ext cx="3500399" cy="2235476"/>
          </a:xfrm>
          <a:prstGeom prst="rect">
            <a:avLst/>
          </a:prstGeom>
          <a:noFill/>
          <a:ln>
            <a:noFill/>
          </a:ln>
        </p:spPr>
      </p:pic>
      <p:pic>
        <p:nvPicPr>
          <p:cNvPr id="78" name="Google Shape;78;p16" title="Screenshot 2025-03-18 at 4.05.39 PM.png"/>
          <p:cNvPicPr preferRelativeResize="0"/>
          <p:nvPr/>
        </p:nvPicPr>
        <p:blipFill>
          <a:blip r:embed="rId4">
            <a:alphaModFix/>
          </a:blip>
          <a:stretch>
            <a:fillRect/>
          </a:stretch>
        </p:blipFill>
        <p:spPr>
          <a:xfrm>
            <a:off x="152401" y="2492025"/>
            <a:ext cx="3788349" cy="2419351"/>
          </a:xfrm>
          <a:prstGeom prst="rect">
            <a:avLst/>
          </a:prstGeom>
          <a:noFill/>
          <a:ln>
            <a:noFill/>
          </a:ln>
        </p:spPr>
      </p:pic>
      <p:pic>
        <p:nvPicPr>
          <p:cNvPr id="79" name="Google Shape;79;p16" title="Screenshot 2025-03-18 at 4.05.59 PM.png"/>
          <p:cNvPicPr preferRelativeResize="0"/>
          <p:nvPr/>
        </p:nvPicPr>
        <p:blipFill>
          <a:blip r:embed="rId5">
            <a:alphaModFix/>
          </a:blip>
          <a:stretch>
            <a:fillRect/>
          </a:stretch>
        </p:blipFill>
        <p:spPr>
          <a:xfrm>
            <a:off x="4102375" y="217150"/>
            <a:ext cx="4898450" cy="3303784"/>
          </a:xfrm>
          <a:prstGeom prst="rect">
            <a:avLst/>
          </a:prstGeom>
          <a:noFill/>
          <a:ln>
            <a:noFill/>
          </a:ln>
        </p:spPr>
      </p:pic>
      <p:sp>
        <p:nvSpPr>
          <p:cNvPr id="80" name="Google Shape;80;p16"/>
          <p:cNvSpPr txBox="1"/>
          <p:nvPr/>
        </p:nvSpPr>
        <p:spPr>
          <a:xfrm>
            <a:off x="4102400" y="3680475"/>
            <a:ext cx="4898400" cy="12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Average"/>
                <a:ea typeface="Average"/>
                <a:cs typeface="Average"/>
                <a:sym typeface="Average"/>
              </a:rPr>
              <a:t>Additional findings: Running the debugger code on the same patch, the tangent and normal vectors (as well as the patch placement/size) did in fact appear to be correct.</a:t>
            </a:r>
            <a:endParaRPr sz="1800">
              <a:solidFill>
                <a:schemeClr val="accent3"/>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