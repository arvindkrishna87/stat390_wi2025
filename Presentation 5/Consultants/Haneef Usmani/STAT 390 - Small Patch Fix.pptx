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8771e30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8771e30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8771e304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8771e304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88614a884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88614a884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	Show original mask with tangent vectors (red) and normal vectors (green)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•	Highlight how normal vectors determine patch direction and size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•	Point out problematic areas: “Notice how at certain points along the contour, the normals don’t properly traverse the full epithelium width”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88614a884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88614a884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88614a884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88614a884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88614a884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88614a884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88614a884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88614a884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88614a884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88614a884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88614a88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88614a88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88614a884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88614a884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Relationship Id="rId10" Type="http://schemas.openxmlformats.org/officeDocument/2006/relationships/image" Target="../media/image21.png"/><Relationship Id="rId9" Type="http://schemas.openxmlformats.org/officeDocument/2006/relationships/image" Target="../media/image20.png"/><Relationship Id="rId5" Type="http://schemas.openxmlformats.org/officeDocument/2006/relationships/image" Target="../media/image6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Patch Fix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case_86_match_1_sox10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281750" y="1141225"/>
            <a:ext cx="8580500" cy="3583175"/>
            <a:chOff x="281750" y="780174"/>
            <a:chExt cx="8580500" cy="3583175"/>
          </a:xfrm>
        </p:grpSpPr>
        <p:pic>
          <p:nvPicPr>
            <p:cNvPr id="61" name="Google Shape;61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1750" y="780174"/>
              <a:ext cx="8580500" cy="3583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358075" y="1528825"/>
              <a:ext cx="755400" cy="449400"/>
            </a:xfrm>
            <a:prstGeom prst="ellipse">
              <a:avLst/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1131800" y="1528825"/>
              <a:ext cx="755400" cy="449400"/>
            </a:xfrm>
            <a:prstGeom prst="ellipse">
              <a:avLst/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4" name="Google Shape;64;p14"/>
            <p:cNvCxnSpPr/>
            <p:nvPr/>
          </p:nvCxnSpPr>
          <p:spPr>
            <a:xfrm flipH="1">
              <a:off x="2002350" y="1414100"/>
              <a:ext cx="439800" cy="191100"/>
            </a:xfrm>
            <a:prstGeom prst="straightConnector1">
              <a:avLst/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5" name="Google Shape;65;p14"/>
            <p:cNvCxnSpPr/>
            <p:nvPr/>
          </p:nvCxnSpPr>
          <p:spPr>
            <a:xfrm flipH="1">
              <a:off x="6284850" y="1528825"/>
              <a:ext cx="439800" cy="191100"/>
            </a:xfrm>
            <a:prstGeom prst="straightConnector1">
              <a:avLst/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solidFill>
                  <a:schemeClr val="dk2"/>
                </a:solidFill>
              </a:rPr>
              <a:t>patched_</a:t>
            </a:r>
            <a:r>
              <a:rPr b="1" lang="en">
                <a:solidFill>
                  <a:schemeClr val="dk2"/>
                </a:solidFill>
              </a:rPr>
              <a:t>case_86_match_1_sox10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Zooming In On Small Patches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44154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small patches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apparent annotation issue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Mask is relatively smooth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Mask segment is not abnormal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474" y="1722563"/>
            <a:ext cx="3925126" cy="2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Plotting the Tangent &amp; Normals </a:t>
            </a:r>
            <a:endParaRPr/>
          </a:p>
        </p:txBody>
      </p:sp>
      <p:pic>
        <p:nvPicPr>
          <p:cNvPr id="79" name="Google Shape;79;p16" title="tangents_on_o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4400"/>
            <a:ext cx="9144000" cy="2518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Screenshot 2025-03-18 at 1.44.5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3432831"/>
            <a:ext cx="2362201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Screenshot 2025-03-18 at 1.45.30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2800" y="3429000"/>
            <a:ext cx="2359153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Screenshot 2025-03-18 at 1.46.13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7000" y="3432831"/>
            <a:ext cx="2359152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609600" y="1451631"/>
            <a:ext cx="457200" cy="304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3657600" y="1451631"/>
            <a:ext cx="457200" cy="304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6705600" y="1451631"/>
            <a:ext cx="457200" cy="304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Plotting the Tangent &amp; Normals - Ryan’s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" y="914400"/>
            <a:ext cx="9116568" cy="252374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/>
          <p:nvPr/>
        </p:nvSpPr>
        <p:spPr>
          <a:xfrm>
            <a:off x="609600" y="1451631"/>
            <a:ext cx="457200" cy="304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3657600" y="1451631"/>
            <a:ext cx="457200" cy="304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6705600" y="1451631"/>
            <a:ext cx="457200" cy="304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7" title="Screenshot 2025-03-18 at 1.52.3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939" y="3476243"/>
            <a:ext cx="2334261" cy="1400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 title="Screenshot 2025-03-18 at 1.52.51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7550" y="3505200"/>
            <a:ext cx="260985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Screenshot 2025-03-18 at 1.53.12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9941" y="3476243"/>
            <a:ext cx="2379259" cy="1400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Difference in the Code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152475"/>
            <a:ext cx="776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401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0"/>
              <a:buChar char="●"/>
            </a:pPr>
            <a:r>
              <a:rPr lang="en" sz="1660"/>
              <a:t>Fixed vs. Adaptive Smoothing Approach</a:t>
            </a:r>
            <a:endParaRPr sz="166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6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6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6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60"/>
          </a:p>
          <a:p>
            <a:pPr indent="-33401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60"/>
              <a:buChar char="●"/>
            </a:pPr>
            <a:r>
              <a:rPr lang="en" sz="1660"/>
              <a:t>Sigma Values: (original) </a:t>
            </a:r>
            <a:r>
              <a:rPr b="1" lang="en" sz="1660"/>
              <a:t>298 </a:t>
            </a:r>
            <a:r>
              <a:rPr lang="en" sz="1660"/>
              <a:t>vs (Ryan’s) </a:t>
            </a:r>
            <a:r>
              <a:rPr b="1" lang="en" sz="1660"/>
              <a:t>49</a:t>
            </a:r>
            <a:endParaRPr b="1" sz="1660"/>
          </a:p>
          <a:p>
            <a:pPr indent="-33401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0"/>
              <a:buChar char="●"/>
            </a:pPr>
            <a:r>
              <a:rPr lang="en" sz="1660"/>
              <a:t>Ryan’s code uses a more </a:t>
            </a:r>
            <a:r>
              <a:rPr lang="en" sz="1660"/>
              <a:t>appropriate</a:t>
            </a:r>
            <a:r>
              <a:rPr lang="en" sz="1660"/>
              <a:t> smoothing parameter</a:t>
            </a:r>
            <a:endParaRPr sz="1660"/>
          </a:p>
          <a:p>
            <a:pPr indent="-33401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60"/>
              <a:buChar char="○"/>
            </a:pP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estimate_curvature_complexity() </a:t>
            </a:r>
            <a:r>
              <a:rPr lang="en" sz="1660"/>
              <a:t>function measures how curvy the function is by counting the number of sharp turns, preventing over-smoothing</a:t>
            </a:r>
            <a:endParaRPr sz="166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66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660"/>
          </a:p>
        </p:txBody>
      </p:sp>
      <p:sp>
        <p:nvSpPr>
          <p:cNvPr id="104" name="Google Shape;104;p18"/>
          <p:cNvSpPr txBox="1"/>
          <p:nvPr/>
        </p:nvSpPr>
        <p:spPr>
          <a:xfrm>
            <a:off x="533400" y="1676400"/>
            <a:ext cx="5791200" cy="1524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Original code</a:t>
            </a:r>
            <a:endParaRPr b="1" sz="9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sigmas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.array([</a:t>
            </a:r>
            <a:r>
              <a:rPr b="1" lang="en" sz="9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9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contour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90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9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 sz="9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contour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contours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1" lang="en" sz="9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fixed</a:t>
            </a:r>
            <a:endParaRPr b="1"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Ryan’s Code</a:t>
            </a:r>
            <a:endParaRPr b="1" sz="9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complexity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estimate_curvature_complexity(points)</a:t>
            </a:r>
            <a:endParaRPr b="1"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sigma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9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(contour) </a:t>
            </a:r>
            <a:r>
              <a:rPr b="1" lang="en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complexity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9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 sz="9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dynamic based on complexity</a:t>
            </a:r>
            <a:endParaRPr b="1"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Visualizing “High-Curvature” Points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990600"/>
            <a:ext cx="4802139" cy="38480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/>
          <p:nvPr/>
        </p:nvSpPr>
        <p:spPr>
          <a:xfrm>
            <a:off x="3048000" y="1752600"/>
            <a:ext cx="762000" cy="304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6674" y="1390650"/>
            <a:ext cx="2981326" cy="15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/>
          <p:nvPr/>
        </p:nvSpPr>
        <p:spPr>
          <a:xfrm>
            <a:off x="3393281" y="2057400"/>
            <a:ext cx="492900" cy="533400"/>
          </a:xfrm>
          <a:custGeom>
            <a:rect b="b" l="l" r="r" t="t"/>
            <a:pathLst>
              <a:path extrusionOk="0" h="21336" w="19716">
                <a:moveTo>
                  <a:pt x="1429" y="0"/>
                </a:moveTo>
                <a:cubicBezTo>
                  <a:pt x="1429" y="2540"/>
                  <a:pt x="-1619" y="11684"/>
                  <a:pt x="1429" y="15240"/>
                </a:cubicBezTo>
                <a:cubicBezTo>
                  <a:pt x="4477" y="18796"/>
                  <a:pt x="16669" y="20320"/>
                  <a:pt x="19717" y="21336"/>
                </a:cubicBezTo>
              </a:path>
            </a:pathLst>
          </a:cu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the effect of smoothing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8110"/>
            <a:ext cx="9144000" cy="3758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Sigma Values to Small Patches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1003200"/>
            <a:ext cx="464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8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95"/>
              <a:buAutoNum type="arabicPeriod"/>
            </a:pPr>
            <a:r>
              <a:rPr lang="en" sz="1595"/>
              <a:t>Over-smoothing in </a:t>
            </a:r>
            <a:r>
              <a:rPr lang="en" sz="1595"/>
              <a:t>original</a:t>
            </a:r>
            <a:r>
              <a:rPr lang="en" sz="1595"/>
              <a:t> code</a:t>
            </a:r>
            <a:endParaRPr sz="1595"/>
          </a:p>
          <a:p>
            <a:pPr indent="-31019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5"/>
              <a:buAutoNum type="alphaLcPeriod"/>
            </a:pPr>
            <a:r>
              <a:rPr lang="en" sz="1285"/>
              <a:t>Sigma value of 298 is too high, causing over-smoothing across entire contour</a:t>
            </a:r>
            <a:endParaRPr sz="1285"/>
          </a:p>
          <a:p>
            <a:pPr indent="-310197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5"/>
              <a:buAutoNum type="romanLcPeriod"/>
            </a:pPr>
            <a:r>
              <a:rPr lang="en" sz="1285"/>
              <a:t>Distorts true contour direction at high curvature points</a:t>
            </a:r>
            <a:endParaRPr sz="1285"/>
          </a:p>
          <a:p>
            <a:pPr indent="-3298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95"/>
              <a:buAutoNum type="arabicPeriod"/>
            </a:pPr>
            <a:r>
              <a:rPr lang="en" sz="1595"/>
              <a:t>Impact on Normal Vectors</a:t>
            </a:r>
            <a:endParaRPr sz="1595"/>
          </a:p>
          <a:p>
            <a:pPr indent="-31019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5"/>
              <a:buAutoNum type="alphaLcPeriod"/>
            </a:pPr>
            <a:r>
              <a:rPr lang="en" sz="1285"/>
              <a:t>Over-smoothing blinds </a:t>
            </a:r>
            <a:r>
              <a:rPr lang="en" sz="1285"/>
              <a:t>algorithm</a:t>
            </a:r>
            <a:r>
              <a:rPr lang="en" sz="1285"/>
              <a:t> to local geometry changes</a:t>
            </a:r>
            <a:endParaRPr sz="1285"/>
          </a:p>
          <a:p>
            <a:pPr indent="-31019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5"/>
              <a:buAutoNum type="alphaLcPeriod"/>
            </a:pPr>
            <a:r>
              <a:rPr lang="en" sz="1285"/>
              <a:t>Causes normal vectors to be unaligned with true width direction</a:t>
            </a:r>
            <a:endParaRPr sz="1285"/>
          </a:p>
          <a:p>
            <a:pPr indent="-31019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5"/>
              <a:buAutoNum type="alphaLcPeriod"/>
            </a:pPr>
            <a:r>
              <a:rPr lang="en" sz="1285"/>
              <a:t>Results in a shortened width (hence small patch generation)</a:t>
            </a:r>
            <a:endParaRPr sz="1285"/>
          </a:p>
          <a:p>
            <a:pPr indent="-32988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95"/>
              <a:buAutoNum type="arabicPeriod"/>
            </a:pPr>
            <a:r>
              <a:rPr lang="en" sz="1595"/>
              <a:t>Why adaptive smoothing works better</a:t>
            </a:r>
            <a:endParaRPr sz="1595"/>
          </a:p>
          <a:p>
            <a:pPr indent="-31019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5"/>
              <a:buAutoNum type="alphaLcPeriod"/>
            </a:pPr>
            <a:r>
              <a:rPr lang="en" sz="1285"/>
              <a:t>Ryan’s code calculated a sigma value of 49, more </a:t>
            </a:r>
            <a:r>
              <a:rPr lang="en" sz="1285"/>
              <a:t>appropriate</a:t>
            </a:r>
            <a:r>
              <a:rPr lang="en" sz="1285"/>
              <a:t> for contour shape</a:t>
            </a:r>
            <a:endParaRPr sz="1285"/>
          </a:p>
          <a:p>
            <a:pPr indent="-31019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5"/>
              <a:buAutoNum type="alphaLcPeriod"/>
            </a:pPr>
            <a:r>
              <a:rPr lang="en" sz="1285"/>
              <a:t>3.7% of points identified as “high-curvature”</a:t>
            </a:r>
            <a:endParaRPr sz="1285"/>
          </a:p>
          <a:p>
            <a:pPr indent="-310197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5"/>
              <a:buAutoNum type="romanLcPeriod"/>
            </a:pPr>
            <a:r>
              <a:rPr lang="en" sz="1285"/>
              <a:t>These points receive more appropriate treatment</a:t>
            </a:r>
            <a:endParaRPr sz="1285"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650" y="1017725"/>
            <a:ext cx="3584124" cy="22511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5321163" y="3387363"/>
            <a:ext cx="30291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Better Metrics: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Epithelium Coverage: </a:t>
            </a:r>
            <a:r>
              <a:rPr b="1" lang="en" sz="1100">
                <a:solidFill>
                  <a:schemeClr val="dk2"/>
                </a:solidFill>
              </a:rPr>
              <a:t>90.4% → 94.6%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Background: </a:t>
            </a:r>
            <a:r>
              <a:rPr b="1" lang="en" sz="1100">
                <a:solidFill>
                  <a:schemeClr val="dk2"/>
                </a:solidFill>
              </a:rPr>
              <a:t>15.9% → 8.8%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Overall Score: </a:t>
            </a:r>
            <a:r>
              <a:rPr b="1" lang="en" sz="1100">
                <a:solidFill>
                  <a:schemeClr val="dk2"/>
                </a:solidFill>
              </a:rPr>
              <a:t>89.2% → 93.9%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29" name="Google Shape;129;p21" title="Screenshot 2025-03-17 at 4.43.3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3650" y="4014650"/>
            <a:ext cx="1896505" cy="10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/>
          <p:nvPr/>
        </p:nvSpPr>
        <p:spPr>
          <a:xfrm>
            <a:off x="5845700" y="1017725"/>
            <a:ext cx="812700" cy="310200"/>
          </a:xfrm>
          <a:prstGeom prst="ellipse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6940150" y="4280400"/>
            <a:ext cx="13575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No small patches!</a:t>
            </a:r>
            <a:endParaRPr b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2" title="patched_case_88_match_1_melan.png"/>
          <p:cNvPicPr preferRelativeResize="0"/>
          <p:nvPr/>
        </p:nvPicPr>
        <p:blipFill rotWithShape="1">
          <a:blip r:embed="rId3">
            <a:alphaModFix/>
          </a:blip>
          <a:srcRect b="0" l="58000" r="0" t="0"/>
          <a:stretch/>
        </p:blipFill>
        <p:spPr>
          <a:xfrm>
            <a:off x="2133600" y="3103378"/>
            <a:ext cx="2239749" cy="198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 title="patched_case_88_match_1_melan.png"/>
          <p:cNvPicPr preferRelativeResize="0"/>
          <p:nvPr/>
        </p:nvPicPr>
        <p:blipFill rotWithShape="1">
          <a:blip r:embed="rId4">
            <a:alphaModFix/>
          </a:blip>
          <a:srcRect b="0" l="58088" r="0" t="0"/>
          <a:stretch/>
        </p:blipFill>
        <p:spPr>
          <a:xfrm>
            <a:off x="2133600" y="1435438"/>
            <a:ext cx="2239749" cy="1993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On Other Slices With Small Patches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04800" y="1066800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Ex. 1: case_88_match_1_melan  </a:t>
            </a:r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5735" y="3611678"/>
            <a:ext cx="420350" cy="97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>
            <p:ph idx="2" type="body"/>
          </p:nvPr>
        </p:nvSpPr>
        <p:spPr>
          <a:xfrm>
            <a:off x="4848900" y="1066800"/>
            <a:ext cx="40665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Ex. 2: case_86_match_1_h&amp;e</a:t>
            </a:r>
            <a:endParaRPr/>
          </a:p>
        </p:txBody>
      </p:sp>
      <p:pic>
        <p:nvPicPr>
          <p:cNvPr id="142" name="Google Shape;142;p22" title="patched_case_86_match_1_h&amp;e.png"/>
          <p:cNvPicPr preferRelativeResize="0"/>
          <p:nvPr/>
        </p:nvPicPr>
        <p:blipFill rotWithShape="1">
          <a:blip r:embed="rId6">
            <a:alphaModFix/>
          </a:blip>
          <a:srcRect b="0" l="50000" r="0" t="0"/>
          <a:stretch/>
        </p:blipFill>
        <p:spPr>
          <a:xfrm>
            <a:off x="6487807" y="3132399"/>
            <a:ext cx="2666588" cy="197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 title="patched_case_86_match_1_h&amp;e.png"/>
          <p:cNvPicPr preferRelativeResize="0"/>
          <p:nvPr/>
        </p:nvPicPr>
        <p:blipFill rotWithShape="1">
          <a:blip r:embed="rId7">
            <a:alphaModFix/>
          </a:blip>
          <a:srcRect b="0" l="50000" r="0" t="0"/>
          <a:stretch/>
        </p:blipFill>
        <p:spPr>
          <a:xfrm>
            <a:off x="6487808" y="1437257"/>
            <a:ext cx="2666588" cy="1902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49170" y="3404346"/>
            <a:ext cx="909942" cy="84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67499" y="1676316"/>
            <a:ext cx="873276" cy="848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22429" y="1788141"/>
            <a:ext cx="506974" cy="97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/>
          <p:nvPr/>
        </p:nvSpPr>
        <p:spPr>
          <a:xfrm>
            <a:off x="4192425" y="2379753"/>
            <a:ext cx="202800" cy="2838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4192425" y="4015228"/>
            <a:ext cx="202800" cy="2838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22"/>
          <p:cNvCxnSpPr>
            <a:stCxn id="147" idx="2"/>
          </p:cNvCxnSpPr>
          <p:nvPr/>
        </p:nvCxnSpPr>
        <p:spPr>
          <a:xfrm rot="10800000">
            <a:off x="3700725" y="2336553"/>
            <a:ext cx="491700" cy="185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2"/>
          <p:cNvCxnSpPr/>
          <p:nvPr/>
        </p:nvCxnSpPr>
        <p:spPr>
          <a:xfrm rot="10800000">
            <a:off x="3700725" y="3959103"/>
            <a:ext cx="491700" cy="185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2"/>
          <p:cNvCxnSpPr>
            <a:endCxn id="146" idx="0"/>
          </p:cNvCxnSpPr>
          <p:nvPr/>
        </p:nvCxnSpPr>
        <p:spPr>
          <a:xfrm>
            <a:off x="2810316" y="1777641"/>
            <a:ext cx="465600" cy="105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2"/>
          <p:cNvSpPr txBox="1"/>
          <p:nvPr/>
        </p:nvSpPr>
        <p:spPr>
          <a:xfrm>
            <a:off x="2236800" y="1494453"/>
            <a:ext cx="735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Small patch</a:t>
            </a:r>
            <a:endParaRPr>
              <a:solidFill>
                <a:srgbClr val="FFFF00"/>
              </a:solidFill>
            </a:endParaRPr>
          </a:p>
        </p:txBody>
      </p:sp>
      <p:grpSp>
        <p:nvGrpSpPr>
          <p:cNvPr id="153" name="Google Shape;153;p22"/>
          <p:cNvGrpSpPr/>
          <p:nvPr/>
        </p:nvGrpSpPr>
        <p:grpSpPr>
          <a:xfrm>
            <a:off x="6612618" y="1771880"/>
            <a:ext cx="1210585" cy="289192"/>
            <a:chOff x="6578950" y="1818968"/>
            <a:chExt cx="1190700" cy="283800"/>
          </a:xfrm>
        </p:grpSpPr>
        <p:sp>
          <p:nvSpPr>
            <p:cNvPr id="154" name="Google Shape;154;p22"/>
            <p:cNvSpPr/>
            <p:nvPr/>
          </p:nvSpPr>
          <p:spPr>
            <a:xfrm>
              <a:off x="6578950" y="1818968"/>
              <a:ext cx="310500" cy="283800"/>
            </a:xfrm>
            <a:prstGeom prst="ellipse">
              <a:avLst/>
            </a:prstGeom>
            <a:noFill/>
            <a:ln cap="flat" cmpd="sng" w="1905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" name="Google Shape;155;p22"/>
            <p:cNvCxnSpPr>
              <a:stCxn id="154" idx="6"/>
            </p:cNvCxnSpPr>
            <p:nvPr/>
          </p:nvCxnSpPr>
          <p:spPr>
            <a:xfrm flipH="1" rot="10800000">
              <a:off x="6889450" y="1922468"/>
              <a:ext cx="880200" cy="38400"/>
            </a:xfrm>
            <a:prstGeom prst="straightConnector1">
              <a:avLst/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56" name="Google Shape;156;p22"/>
          <p:cNvSpPr/>
          <p:nvPr/>
        </p:nvSpPr>
        <p:spPr>
          <a:xfrm>
            <a:off x="6612399" y="3446546"/>
            <a:ext cx="315600" cy="2892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22"/>
          <p:cNvCxnSpPr>
            <a:stCxn id="156" idx="6"/>
          </p:cNvCxnSpPr>
          <p:nvPr/>
        </p:nvCxnSpPr>
        <p:spPr>
          <a:xfrm>
            <a:off x="6927999" y="3591146"/>
            <a:ext cx="884100" cy="122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22"/>
          <p:cNvSpPr txBox="1"/>
          <p:nvPr/>
        </p:nvSpPr>
        <p:spPr>
          <a:xfrm>
            <a:off x="8243895" y="1353010"/>
            <a:ext cx="9762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Small patches</a:t>
            </a:r>
            <a:endParaRPr>
              <a:solidFill>
                <a:srgbClr val="FFFF00"/>
              </a:solidFill>
            </a:endParaRPr>
          </a:p>
        </p:txBody>
      </p:sp>
      <p:cxnSp>
        <p:nvCxnSpPr>
          <p:cNvPr id="159" name="Google Shape;159;p22"/>
          <p:cNvCxnSpPr/>
          <p:nvPr/>
        </p:nvCxnSpPr>
        <p:spPr>
          <a:xfrm flipH="1">
            <a:off x="8213140" y="1548965"/>
            <a:ext cx="387300" cy="1554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2"/>
          <p:cNvCxnSpPr>
            <a:endCxn id="145" idx="3"/>
          </p:cNvCxnSpPr>
          <p:nvPr/>
        </p:nvCxnSpPr>
        <p:spPr>
          <a:xfrm flipH="1">
            <a:off x="8540775" y="1889487"/>
            <a:ext cx="483300" cy="2109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2"/>
          <p:cNvSpPr txBox="1"/>
          <p:nvPr/>
        </p:nvSpPr>
        <p:spPr>
          <a:xfrm>
            <a:off x="304800" y="1437447"/>
            <a:ext cx="1905000" cy="365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</a:rPr>
              <a:t>Before Improvement:</a:t>
            </a:r>
            <a:endParaRPr b="1" sz="1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Epithelium Coverage: 93.6%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Background: 8.2%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Overall Score: 93.2%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</a:rPr>
              <a:t>After Improvement:</a:t>
            </a:r>
            <a:endParaRPr b="1" sz="1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Epithelium Coverage: </a:t>
            </a:r>
            <a:r>
              <a:rPr b="1" lang="en" sz="1000">
                <a:solidFill>
                  <a:srgbClr val="FF0000"/>
                </a:solidFill>
              </a:rPr>
              <a:t>92.4%</a:t>
            </a:r>
            <a:r>
              <a:rPr lang="en" sz="1000">
                <a:solidFill>
                  <a:schemeClr val="lt1"/>
                </a:solidFill>
              </a:rPr>
              <a:t>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Background: </a:t>
            </a:r>
            <a:r>
              <a:rPr b="1" lang="en" sz="1000">
                <a:solidFill>
                  <a:srgbClr val="00FF00"/>
                </a:solidFill>
              </a:rPr>
              <a:t>6.3% </a:t>
            </a:r>
            <a:endParaRPr b="1" sz="10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Overall Score: </a:t>
            </a:r>
            <a:r>
              <a:rPr b="1" lang="en" sz="1000">
                <a:solidFill>
                  <a:srgbClr val="FF0000"/>
                </a:solidFill>
              </a:rPr>
              <a:t>92.7%</a:t>
            </a:r>
            <a:r>
              <a:rPr lang="en" sz="1000">
                <a:solidFill>
                  <a:srgbClr val="FF0000"/>
                </a:solidFill>
              </a:rPr>
              <a:t> 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Minimal decrease in metrics while removing small patch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4572000" y="1439667"/>
            <a:ext cx="1936800" cy="36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</a:rPr>
              <a:t>Before Improvement:</a:t>
            </a:r>
            <a:endParaRPr b="1" sz="1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Epithelium Coverage: </a:t>
            </a:r>
            <a:r>
              <a:rPr lang="en" sz="1000">
                <a:solidFill>
                  <a:schemeClr val="lt1"/>
                </a:solidFill>
              </a:rPr>
              <a:t>89.7</a:t>
            </a:r>
            <a:r>
              <a:rPr lang="en" sz="1000">
                <a:solidFill>
                  <a:schemeClr val="lt1"/>
                </a:solidFill>
              </a:rPr>
              <a:t>%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Background: </a:t>
            </a:r>
            <a:r>
              <a:rPr lang="en" sz="1000">
                <a:solidFill>
                  <a:schemeClr val="lt1"/>
                </a:solidFill>
              </a:rPr>
              <a:t>14.2</a:t>
            </a:r>
            <a:r>
              <a:rPr lang="en" sz="1000">
                <a:solidFill>
                  <a:schemeClr val="lt1"/>
                </a:solidFill>
              </a:rPr>
              <a:t>%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Overall Score: </a:t>
            </a:r>
            <a:r>
              <a:rPr lang="en" sz="1000">
                <a:solidFill>
                  <a:schemeClr val="lt1"/>
                </a:solidFill>
              </a:rPr>
              <a:t>88.9</a:t>
            </a:r>
            <a:r>
              <a:rPr lang="en" sz="1000">
                <a:solidFill>
                  <a:schemeClr val="lt1"/>
                </a:solidFill>
              </a:rPr>
              <a:t>%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</a:rPr>
              <a:t>After Improvement:</a:t>
            </a:r>
            <a:endParaRPr b="1" sz="1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Epithelium Coverage: </a:t>
            </a:r>
            <a:r>
              <a:rPr b="1" lang="en" sz="1000">
                <a:solidFill>
                  <a:srgbClr val="00FF00"/>
                </a:solidFill>
              </a:rPr>
              <a:t>91.6</a:t>
            </a:r>
            <a:r>
              <a:rPr b="1" lang="en" sz="1000">
                <a:solidFill>
                  <a:srgbClr val="00FF00"/>
                </a:solidFill>
              </a:rPr>
              <a:t>%</a:t>
            </a:r>
            <a:r>
              <a:rPr lang="en" sz="1000">
                <a:solidFill>
                  <a:schemeClr val="lt1"/>
                </a:solidFill>
              </a:rPr>
              <a:t>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Background: </a:t>
            </a:r>
            <a:r>
              <a:rPr b="1" lang="en" sz="1000">
                <a:solidFill>
                  <a:srgbClr val="00FF00"/>
                </a:solidFill>
              </a:rPr>
              <a:t>8.6</a:t>
            </a:r>
            <a:r>
              <a:rPr b="1" lang="en" sz="1000">
                <a:solidFill>
                  <a:srgbClr val="00FF00"/>
                </a:solidFill>
              </a:rPr>
              <a:t>% </a:t>
            </a:r>
            <a:endParaRPr b="1" sz="10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Overall Score: </a:t>
            </a:r>
            <a:r>
              <a:rPr b="1" lang="en" sz="1000">
                <a:solidFill>
                  <a:srgbClr val="00FF00"/>
                </a:solidFill>
              </a:rPr>
              <a:t>91.5</a:t>
            </a:r>
            <a:r>
              <a:rPr b="1" lang="en" sz="1000">
                <a:solidFill>
                  <a:srgbClr val="00FF00"/>
                </a:solidFill>
              </a:rPr>
              <a:t>%</a:t>
            </a:r>
            <a:endParaRPr b="1" sz="10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Increase in metrics while removing all small patches</a:t>
            </a:r>
            <a:r>
              <a:rPr lang="en" sz="1000">
                <a:solidFill>
                  <a:srgbClr val="00FF00"/>
                </a:solidFill>
              </a:rPr>
              <a:t> </a:t>
            </a:r>
            <a:endParaRPr b="1" sz="1100">
              <a:solidFill>
                <a:srgbClr val="00FF00"/>
              </a:solidFill>
            </a:endParaRPr>
          </a:p>
        </p:txBody>
      </p:sp>
      <p:cxnSp>
        <p:nvCxnSpPr>
          <p:cNvPr id="163" name="Google Shape;163;p22"/>
          <p:cNvCxnSpPr/>
          <p:nvPr/>
        </p:nvCxnSpPr>
        <p:spPr>
          <a:xfrm>
            <a:off x="304800" y="3474140"/>
            <a:ext cx="4114800" cy="3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2"/>
          <p:cNvCxnSpPr/>
          <p:nvPr/>
        </p:nvCxnSpPr>
        <p:spPr>
          <a:xfrm>
            <a:off x="4569111" y="3397939"/>
            <a:ext cx="4727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