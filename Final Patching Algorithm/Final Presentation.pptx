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2713668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32713668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2713668d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2713668d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cc84d19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cc84d19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cc84d19e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cc84d19e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34294890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34294890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3429489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3429489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34294890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34294890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34294890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34294890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34294890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34294890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c84d19e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c84d19e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34294890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34294890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de6cab5d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3de6cab5d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hyperlink" Target="https://nuwildcat-my.sharepoint.com/shared?listurl=%2Fpersonal%2Fakl0407%5Fads%5Fnorthwestern%5Fedu%2FDocuments&amp;noAuthRedirect=1&amp;id=%2Fpersonal%2Fakl0407%5Fads%5Fnorthwestern%5Fedu%2FDocuments%2FSTAT390%2FAnnotated%5Fslices%2Fh%26e%5Fbenign%5Fcase25%5Fmatch1%2Epng&amp;parent=%2Fpersonal%2Fakl0407%5Fads%5Fnorthwestern%5Fedu%2FDocuments%2FSTAT390%2FAnnotated%5Fslice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hyperlink" Target="https://nuwildcat-my.sharepoint.com/shared?listurl=%2Fpersonal%2Fakl0407%5Fads%5Fnorthwestern%5Fedu%2FDocuments&amp;noAuthRedirect=1&amp;id=%2Fpersonal%2Fakl0407%5Fads%5Fnorthwestern%5Fedu%2FDocuments%2FSTAT390%2FAnnotated%5Fslices%2Fh%26e%5Fbenign%5Fcase25%5Fmatch1%2Epng&amp;parent=%2Fpersonal%2Fakl0407%5Fads%5Fnorthwestern%5Fedu%2FDocuments%2FSTAT390%2FAnnotated%5Fslice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hyperlink" Target="https://nuwildcat-my.sharepoint.com/shared?listurl=%2Fpersonal%2Fakl0407%5Fads%5Fnorthwestern%5Fedu%2FDocuments&amp;noAuthRedirect=1&amp;id=%2Fpersonal%2Fakl0407%5Fads%5Fnorthwestern%5Fedu%2FDocuments%2FSTAT390%2FAnnotated%5Fslices%2Fh%26e%5Fbenign%5Fcase25%5Fmatch1%2Epng&amp;parent=%2Fpersonal%2Fakl0407%5Fads%5Fnorthwestern%5Fedu%2FDocuments%2FSTAT390%2FAnnotated%5Fslice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hyperlink" Target="https://nuwildcat-my.sharepoint.com/shared?listurl=%2Fpersonal%2Fakl0407%5Fads%5Fnorthwestern%5Fedu%2FDocuments&amp;noAuthRedirect=1&amp;id=%2Fpersonal%2Fakl0407%5Fads%5Fnorthwestern%5Fedu%2FDocuments%2FSTAT390%2FThinkers%2FEpithelium%20Annotations%2FJake%20Masks%2Fh%26e%5Flowgrade%5Fcase102%5Fmatch1%2Epng&amp;parent=%2Fpersonal%2Fakl0407%5Fads%5Fnorthwestern%5Fedu%2FDocuments%2FSTAT390%2FThinkers%2FEpithelium%20Annotations%2FJake%20Mask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hyperlink" Target="https://nuwildcat-my.sharepoint.com/shared?listurl=%2Fpersonal%2Fakl0407%5Fads%5Fnorthwestern%5Fedu%2FDocuments&amp;noAuthRedirect=1&amp;id=%2Fpersonal%2Fakl0407%5Fads%5Fnorthwestern%5Fedu%2FDocuments%2FSTAT390%2FThinkers%2FEpithelium%20Annotations%2FJake%20Masks%2Fh%26e%5Flowgrade%5Fcase102%5Fmatch1%2Epng&amp;parent=%2Fpersonal%2Fakl0407%5Fads%5Fnorthwestern%5Fedu%2FDocuments%2FSTAT390%2FThinkers%2FEpithelium%20Annotations%2FJake%20Mask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arvindkrishna87/STAT390_WI2025/blob/main/Presentation%205/Coders/Ryan%20Lach/Gradient_Normal_Patches.ipynb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arvindkrishna87/STAT390_WI2025/tree/main/Final%20Patching%20Algorithm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Presentation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Patching - Anna, Kota, Jake, John, and Ryan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Big patch problem: modify code to first calculate the overlap between two patches and then discard the patch that has the larger area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Understand and fix the small patch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Confirm our final patching algorithm works for slices with multiple contours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Discuss any other possible issues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52825" y="17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</a:t>
            </a:r>
            <a:r>
              <a:rPr lang="en"/>
              <a:t>iscard the patch that has the larger area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52825" y="590200"/>
            <a:ext cx="4989300" cy="41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Already checking overlap on last placed square</a:t>
            </a:r>
            <a:endParaRPr sz="1500"/>
          </a:p>
          <a:p>
            <a:pPr indent="-2984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Add an additional area comparison for overlapping squares</a:t>
            </a:r>
            <a:endParaRPr sz="1100"/>
          </a:p>
          <a:p>
            <a:pPr indent="-2984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Those that are smaller than previous patch take priority</a:t>
            </a:r>
            <a:endParaRPr sz="1100"/>
          </a:p>
          <a:p>
            <a:pPr indent="-2984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Loss of many squares when keeping smaller and removing larger</a:t>
            </a:r>
            <a:endParaRPr sz="11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Add additional check to ensure large overlap</a:t>
            </a:r>
            <a:endParaRPr sz="1500"/>
          </a:p>
          <a:p>
            <a:pPr indent="-2984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This allows most squares to go unaltered</a:t>
            </a:r>
            <a:endParaRPr sz="1100"/>
          </a:p>
          <a:p>
            <a:pPr indent="-2984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Removes </a:t>
            </a:r>
            <a:r>
              <a:rPr lang="en" sz="1100"/>
              <a:t>excessively</a:t>
            </a:r>
            <a:r>
              <a:rPr lang="en" sz="1100"/>
              <a:t> large squares</a:t>
            </a:r>
            <a:endParaRPr sz="1100"/>
          </a:p>
          <a:p>
            <a:pPr indent="-2984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Does not add any additional loops or square creations</a:t>
            </a:r>
            <a:br>
              <a:rPr lang="en" sz="1100"/>
            </a:br>
            <a:endParaRPr sz="11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There is currently a reduction in coverage when removing larger squares</a:t>
            </a:r>
            <a:endParaRPr sz="1500"/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The algorithm still looks to average </a:t>
            </a:r>
            <a:br>
              <a:rPr lang="en" sz="1200"/>
            </a:br>
            <a:r>
              <a:rPr lang="en" sz="1200"/>
              <a:t>around 90% coverage</a:t>
            </a:r>
            <a:endParaRPr sz="12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</a:t>
            </a:r>
            <a:r>
              <a:rPr lang="en" sz="1500"/>
              <a:t>majority</a:t>
            </a:r>
            <a:r>
              <a:rPr lang="en" sz="1500"/>
              <a:t> of double </a:t>
            </a:r>
            <a:r>
              <a:rPr lang="en" sz="1500"/>
              <a:t>patches</a:t>
            </a:r>
            <a:r>
              <a:rPr lang="en" sz="1500"/>
              <a:t> seem</a:t>
            </a:r>
            <a:br>
              <a:rPr lang="en" sz="1500"/>
            </a:br>
            <a:r>
              <a:rPr lang="en" sz="1500"/>
              <a:t> to have </a:t>
            </a:r>
            <a:r>
              <a:rPr lang="en" sz="1500"/>
              <a:t>disappeared</a:t>
            </a:r>
            <a:endParaRPr sz="15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600" y="643025"/>
            <a:ext cx="1392850" cy="279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4244" y="3781000"/>
            <a:ext cx="4500950" cy="71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03150" y="643025"/>
            <a:ext cx="1470271" cy="271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54250" y="4604850"/>
            <a:ext cx="4500949" cy="120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Small Patch Problem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381" y="1175243"/>
            <a:ext cx="1711475" cy="180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 b="93787" l="0" r="93220" t="0"/>
          <a:stretch/>
        </p:blipFill>
        <p:spPr>
          <a:xfrm>
            <a:off x="3750987" y="1273325"/>
            <a:ext cx="1642000" cy="163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 rotWithShape="1">
          <a:blip r:embed="rId5">
            <a:alphaModFix/>
          </a:blip>
          <a:srcRect b="93780" l="0" r="93117" t="0"/>
          <a:stretch/>
        </p:blipFill>
        <p:spPr>
          <a:xfrm>
            <a:off x="6132332" y="1238755"/>
            <a:ext cx="1711473" cy="168125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311700" y="3164725"/>
            <a:ext cx="8693700" cy="16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Want to understand why our code creates small patches of 2x2 or 3x3 pixels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Modified the code to only show this one specific patch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Then looked at the mask and saw a small peninsula in the annotation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7203300" y="4532875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6"/>
              </a:rPr>
              <a:t>h&amp;e_case_25_match_1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Small Patch Problem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b="0" l="0" r="0" t="4870"/>
          <a:stretch/>
        </p:blipFill>
        <p:spPr>
          <a:xfrm>
            <a:off x="1344625" y="2172225"/>
            <a:ext cx="5800074" cy="28943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138600" y="1017725"/>
            <a:ext cx="8693700" cy="16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Idea: Small patches are caused by imperfections in the masks (rough edges)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Potential </a:t>
            </a:r>
            <a:r>
              <a:rPr lang="en" sz="1800">
                <a:solidFill>
                  <a:schemeClr val="dk2"/>
                </a:solidFill>
              </a:rPr>
              <a:t>solution: Smooth the mask to reduce jutting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7203300" y="4532875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h&amp;e_case_25_match_1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091600" y="3638025"/>
            <a:ext cx="314700" cy="22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1293525" y="1914500"/>
            <a:ext cx="3044700" cy="6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Without mask smoothing:</a:t>
            </a:r>
            <a:endParaRPr sz="1000"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406300" y="1914500"/>
            <a:ext cx="3044700" cy="6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With mask smoothing: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Small Patch Problem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3044700" cy="6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5207"/>
              <a:t>Without</a:t>
            </a:r>
            <a:r>
              <a:rPr lang="en" sz="5207"/>
              <a:t> mask smoothing: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569" y="1890461"/>
            <a:ext cx="4255275" cy="253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 rotWithShape="1">
          <a:blip r:embed="rId4">
            <a:alphaModFix/>
          </a:blip>
          <a:srcRect b="0" l="26497" r="0" t="31539"/>
          <a:stretch/>
        </p:blipFill>
        <p:spPr>
          <a:xfrm>
            <a:off x="4997875" y="1890450"/>
            <a:ext cx="3905926" cy="253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997875" y="1193838"/>
            <a:ext cx="3044700" cy="6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50"/>
              <a:t>With mask smoothing:</a:t>
            </a:r>
            <a:endParaRPr sz="1650"/>
          </a:p>
        </p:txBody>
      </p:sp>
      <p:cxnSp>
        <p:nvCxnSpPr>
          <p:cNvPr id="103" name="Google Shape;103;p18"/>
          <p:cNvCxnSpPr/>
          <p:nvPr/>
        </p:nvCxnSpPr>
        <p:spPr>
          <a:xfrm flipH="1">
            <a:off x="4372225" y="1622475"/>
            <a:ext cx="340200" cy="2287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8"/>
          <p:cNvSpPr txBox="1"/>
          <p:nvPr/>
        </p:nvSpPr>
        <p:spPr>
          <a:xfrm>
            <a:off x="4159500" y="1376950"/>
            <a:ext cx="8250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Small patch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7203300" y="4532875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h&amp;e_case_25_match_1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Small Patch Problem</a:t>
            </a:r>
            <a:endParaRPr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75" y="1798375"/>
            <a:ext cx="8192825" cy="22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/>
          <p:nvPr/>
        </p:nvSpPr>
        <p:spPr>
          <a:xfrm>
            <a:off x="4572000" y="3034200"/>
            <a:ext cx="314700" cy="22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6836100" y="44605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h&amp;e_case_102_match_1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766250" y="1497775"/>
            <a:ext cx="3044700" cy="6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Without mask smoothing:</a:t>
            </a:r>
            <a:endParaRPr sz="1000"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4626600" y="1497775"/>
            <a:ext cx="3044700" cy="6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With mask smoothing: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Small Patch Problem</a:t>
            </a:r>
            <a:endParaRPr/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48" y="1883919"/>
            <a:ext cx="3687825" cy="2068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6900" y="1883925"/>
            <a:ext cx="3008199" cy="2068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588950" y="1368550"/>
            <a:ext cx="253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Without mask smoothing: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4806900" y="1411900"/>
            <a:ext cx="253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With mask smoothing: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25" name="Google Shape;125;p20"/>
          <p:cNvCxnSpPr/>
          <p:nvPr/>
        </p:nvCxnSpPr>
        <p:spPr>
          <a:xfrm flipH="1">
            <a:off x="7051200" y="1986250"/>
            <a:ext cx="1029000" cy="467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20"/>
          <p:cNvSpPr txBox="1"/>
          <p:nvPr/>
        </p:nvSpPr>
        <p:spPr>
          <a:xfrm>
            <a:off x="8131200" y="1781200"/>
            <a:ext cx="7740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Small patches still form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27" name="Google Shape;127;p20"/>
          <p:cNvCxnSpPr/>
          <p:nvPr/>
        </p:nvCxnSpPr>
        <p:spPr>
          <a:xfrm flipH="1" rot="10800000">
            <a:off x="358125" y="2507000"/>
            <a:ext cx="705900" cy="884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20"/>
          <p:cNvCxnSpPr/>
          <p:nvPr/>
        </p:nvCxnSpPr>
        <p:spPr>
          <a:xfrm flipH="1" rot="10800000">
            <a:off x="426175" y="2923575"/>
            <a:ext cx="841800" cy="62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20"/>
          <p:cNvCxnSpPr/>
          <p:nvPr/>
        </p:nvCxnSpPr>
        <p:spPr>
          <a:xfrm flipH="1" rot="10800000">
            <a:off x="485700" y="2796075"/>
            <a:ext cx="2789400" cy="952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20"/>
          <p:cNvSpPr txBox="1"/>
          <p:nvPr/>
        </p:nvSpPr>
        <p:spPr>
          <a:xfrm>
            <a:off x="-85050" y="3391400"/>
            <a:ext cx="7740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Small patches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6836100" y="44605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h&amp;e_case_102_match_1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Small Patch Problem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3 additional parameters for smoothing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only affect the mask, which is already subject to variation due to manual extraction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values are robust to masks I’ve tested</a:t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2225" y="2624150"/>
            <a:ext cx="3175875" cy="207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/>
          <p:nvPr/>
        </p:nvSpPr>
        <p:spPr>
          <a:xfrm>
            <a:off x="2883950" y="3757075"/>
            <a:ext cx="1947600" cy="760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21"/>
          <p:cNvCxnSpPr/>
          <p:nvPr/>
        </p:nvCxnSpPr>
        <p:spPr>
          <a:xfrm rot="10800000">
            <a:off x="4567925" y="3876175"/>
            <a:ext cx="1471200" cy="76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21"/>
          <p:cNvSpPr txBox="1"/>
          <p:nvPr/>
        </p:nvSpPr>
        <p:spPr>
          <a:xfrm>
            <a:off x="6090150" y="3808100"/>
            <a:ext cx="135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Default is False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Slices with multiple contours</a:t>
            </a:r>
            <a:endParaRPr/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311700" y="1085100"/>
            <a:ext cx="85206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34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55"/>
              <a:buChar char="●"/>
            </a:pPr>
            <a:r>
              <a:rPr lang="en" sz="1555"/>
              <a:t>Code previously wasn’t creating/ exporting patches for slices with multiple contours</a:t>
            </a:r>
            <a:endParaRPr sz="1555"/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200" y="1603975"/>
            <a:ext cx="4260300" cy="150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409213" y="1689300"/>
            <a:ext cx="42603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55"/>
              <a:t>Before fixing:</a:t>
            </a:r>
            <a:endParaRPr sz="1555"/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3437" y="3229825"/>
            <a:ext cx="4403624" cy="154948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409213" y="3229825"/>
            <a:ext cx="42603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55"/>
              <a:t>After</a:t>
            </a:r>
            <a:r>
              <a:rPr lang="en" sz="1555"/>
              <a:t> fixing:</a:t>
            </a:r>
            <a:endParaRPr sz="155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Other issues</a:t>
            </a:r>
            <a:endParaRPr/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311700" y="1152475"/>
            <a:ext cx="445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way to optimize sigma for Gaussian Smoothing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get an approximation of complexity from examining number of local maxima relative the </a:t>
            </a:r>
            <a:r>
              <a:rPr lang="en"/>
              <a:t>length</a:t>
            </a:r>
            <a:r>
              <a:rPr lang="en"/>
              <a:t> of a contour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Optimal sigma values seem to fall between 6-90, from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value depends heavily on the windiness, </a:t>
            </a:r>
            <a:r>
              <a:rPr lang="en"/>
              <a:t>noisiness, and size of the contour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not a solved parameter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Especially winding epitheliums can become over smoothed</a:t>
            </a:r>
            <a:endParaRPr/>
          </a:p>
        </p:txBody>
      </p:sp>
      <p:sp>
        <p:nvSpPr>
          <p:cNvPr id="158" name="Google Shape;158;p23"/>
          <p:cNvSpPr txBox="1"/>
          <p:nvPr/>
        </p:nvSpPr>
        <p:spPr>
          <a:xfrm>
            <a:off x="1632175" y="4453625"/>
            <a:ext cx="11907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GitHub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5225" y="108800"/>
            <a:ext cx="3105450" cy="201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6600" y="2571750"/>
            <a:ext cx="3236825" cy="20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311700" y="110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Algorithm!!! </a:t>
            </a:r>
            <a:endParaRPr/>
          </a:p>
        </p:txBody>
      </p:sp>
      <p:sp>
        <p:nvSpPr>
          <p:cNvPr id="166" name="Google Shape;166;p24"/>
          <p:cNvSpPr txBox="1"/>
          <p:nvPr>
            <p:ph idx="1" type="body"/>
          </p:nvPr>
        </p:nvSpPr>
        <p:spPr>
          <a:xfrm>
            <a:off x="311700" y="1001200"/>
            <a:ext cx="8520600" cy="18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Since p5, we added the following features: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○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Ryan's Gaussian smoothing functionality for more optimal tangents (importantly eliminates </a:t>
            </a:r>
            <a:r>
              <a:rPr lang="en" sz="1000">
                <a:solidFill>
                  <a:srgbClr val="1F2328"/>
                </a:solidFill>
                <a:highlight>
                  <a:srgbClr val="FFFFFF"/>
                </a:highlight>
              </a:rPr>
              <a:t>smoothing_size</a:t>
            </a: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 as a parameter)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○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Anna's patch export functionality that allows all masks and tissue slices within the folder to be executed at once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○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Sharon's </a:t>
            </a:r>
            <a:r>
              <a:rPr lang="en" sz="1000">
                <a:solidFill>
                  <a:srgbClr val="1F2328"/>
                </a:solidFill>
                <a:highlight>
                  <a:srgbClr val="FFFFFF"/>
                </a:highlight>
              </a:rPr>
              <a:t>patching_export</a:t>
            </a: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 functionality that outputs the original image + the mask with patches included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Char char="○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John's epithelium-within-an-epithelium functionality in </a:t>
            </a:r>
            <a:r>
              <a:rPr lang="en" sz="1000">
                <a:solidFill>
                  <a:srgbClr val="1F2328"/>
                </a:solidFill>
                <a:highlight>
                  <a:srgbClr val="FFFFFF"/>
                </a:highlight>
              </a:rPr>
              <a:t>get_contour</a:t>
            </a:r>
            <a:endParaRPr sz="10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000"/>
              <a:buChar char="○"/>
            </a:pPr>
            <a:r>
              <a:rPr lang="en" sz="1200">
                <a:solidFill>
                  <a:srgbClr val="1F2328"/>
                </a:solidFill>
                <a:highlight>
                  <a:schemeClr val="lt1"/>
                </a:highlight>
              </a:rPr>
              <a:t>Jake’s mask-smoothing functionality (set to False on default)</a:t>
            </a:r>
            <a:endParaRPr sz="1000">
              <a:solidFill>
                <a:srgbClr val="1F2328"/>
              </a:solidFill>
              <a:highlight>
                <a:srgbClr val="FFFFFF"/>
              </a:highlight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311700" y="588475"/>
            <a:ext cx="13935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Github Link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849800"/>
            <a:ext cx="3688849" cy="215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8675" y="3154825"/>
            <a:ext cx="4403624" cy="1549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